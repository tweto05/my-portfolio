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69" r:id="rId6"/>
    <p:sldId id="272" r:id="rId7"/>
    <p:sldId id="273" r:id="rId8"/>
    <p:sldId id="271" r:id="rId9"/>
    <p:sldId id="27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FFFFCC"/>
    <a:srgbClr val="156082"/>
    <a:srgbClr val="FFE5E5"/>
    <a:srgbClr val="CAE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tha Wamonakeba Tshiya" userId="870cd05d-2bf5-4dac-bbb3-def6d715dc10" providerId="ADAL" clId="{9D57168B-F1CD-45A7-9CCE-BA6E43E08626}"/>
    <pc:docChg chg="custSel modSld">
      <pc:chgData name="Estha Wamonakeba Tshiya" userId="870cd05d-2bf5-4dac-bbb3-def6d715dc10" providerId="ADAL" clId="{9D57168B-F1CD-45A7-9CCE-BA6E43E08626}" dt="2025-12-22T01:58:30.845" v="13" actId="20577"/>
      <pc:docMkLst>
        <pc:docMk/>
      </pc:docMkLst>
      <pc:sldChg chg="modSp mod">
        <pc:chgData name="Estha Wamonakeba Tshiya" userId="870cd05d-2bf5-4dac-bbb3-def6d715dc10" providerId="ADAL" clId="{9D57168B-F1CD-45A7-9CCE-BA6E43E08626}" dt="2025-12-22T01:58:30.845" v="13" actId="20577"/>
        <pc:sldMkLst>
          <pc:docMk/>
          <pc:sldMk cId="3200065467" sldId="256"/>
        </pc:sldMkLst>
        <pc:spChg chg="mod">
          <ac:chgData name="Estha Wamonakeba Tshiya" userId="870cd05d-2bf5-4dac-bbb3-def6d715dc10" providerId="ADAL" clId="{9D57168B-F1CD-45A7-9CCE-BA6E43E08626}" dt="2025-12-22T01:58:30.845" v="13" actId="20577"/>
          <ac:spMkLst>
            <pc:docMk/>
            <pc:sldMk cId="3200065467" sldId="256"/>
            <ac:spMk id="4" creationId="{84413078-5421-AE3F-65B4-D733366809B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E79A2-D1F9-4E96-A511-2C076F042D9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37BA3-DA24-45C2-B436-2B5441E050BE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7666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DCDB1C-DCBE-4349-991E-E494573073AF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170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64959-9C58-59FE-01F4-4BE034CC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4EEC4F3-A5B6-EEE6-AAD8-048B8FA35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3885A7-9B88-64FB-1B9C-2C1AF5C9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762A23-05BC-38BC-E580-E62D5A3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DE236A-AA98-567C-EC22-1BD5F0C8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0980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58AC62-ACEA-E8E5-B3C9-096DCF0A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41F45E-641F-37C4-BFCB-1AF6BD3FB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BE83B8-7B98-83CA-1D2F-AD33741FC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EBDA89-6B98-69DA-EB61-7A486240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C8AFC89-2E7F-EA1C-7830-77F160DA9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124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90CF99-722B-6F16-FAD9-B2DC3EE7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65907E-E563-B247-B090-0F175AF1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D0E7CC-B540-3DA5-6FDB-6E11FACDF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79C27D-3183-5361-1313-DC686BF12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489E96-698A-A96C-EBB8-04091720C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630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47B032-68F7-2B49-0EE7-9C679A04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31E241-AFB1-1269-7C4B-FE659C035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93D591B-859E-A0BB-4C35-2001D9A90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6C827F0-BD4B-6BDB-A50A-587347C0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66DC19-4917-ACA7-036B-D35185F8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A89BE7-229F-FD91-E18F-2C1C7CAA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006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1768F-1BDE-1C54-1A6B-09661C5B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F4CC44-8780-7CFB-DCB6-25AF8DB94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235D56-A126-746E-8A18-05E2FF4C8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329F579-2E34-7164-97CF-F3AB881C2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7AF5B99-905D-2C7A-259D-6CD3C2B65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9C35B52-B7D5-BCCE-44D2-AECFDF99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D3910FF-BDD9-DAAF-54F9-A5AB8497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0FB6E57-DBF8-2CE8-4D07-7A0268D1A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97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0A04DD-0D16-8B79-FBB3-7B1FA05A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7776A0-0B27-0765-6B54-BB5E6F349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13979F-675B-2B06-0F22-6FEDED2E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BCAB6E-7046-1D6F-A81A-A7611D55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3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59AD4A3-122A-6A36-6E9D-C3E968D40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A2C1C1-1998-1FC1-2E1B-93B763A85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84D4F1-C0AC-14AB-2DE7-A16F4A2B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3509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B660B6-4382-1C5B-3C86-EB49759A5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CA7959-09BC-1833-9C45-FB1656C1A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D78BBA-C596-7A65-AA8F-3BF11E5C1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EE360A9-24B2-4724-09BA-447CF2DFF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CBD41AD-3069-D92B-DA15-B2FF6667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3A3B29-2891-FCFE-F1DC-A5A3B1CD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322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20A084-B469-C215-B578-30DB9256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E781103-2915-7CC4-D360-CF29F234E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154FF3B-8CD4-60BF-048C-CFCC34C16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B25815-2D52-324D-7F47-F798666F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F13253D-FA82-AD01-5B8A-2000CCF1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4FDC92-91DB-F34C-2689-8AFB38F4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1027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F82E75-B581-E8EA-9442-F29FF2B3C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ABFDA91-6059-120C-0385-AD8D6EFCB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5C905C-CFB4-ACFD-37A6-3A1B34715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8719A3-7FD0-935B-8F43-2005CAD0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55F99E-B082-D39E-6D3F-F662E809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2133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98DE9F7-B664-8A4C-482F-54ABDC32F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A87FE6-1222-F420-BE62-1389AAFCD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222994-CF4B-1620-BC23-09A793D7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8D938FB-7433-5D83-7504-8CD20F0F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4B07C8-D1CC-ADD5-4A5E-2AA30EB2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27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EEE90EE-EB8E-68D1-7113-CAB3D3C22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0A8176-5144-202E-5FFB-014C6F7DD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8E33CC-E1B1-4C23-4937-FB005292FA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91763-AE6F-43DD-B257-6ED72DFFE271}" type="datetimeFigureOut">
              <a:rPr lang="en-CA" smtClean="0"/>
              <a:t>2025-12-21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3F28B8-389D-A04B-26E8-ECF932CA7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23CC9C-A76E-2267-438F-B8101D6FA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D59CA-FC65-4932-AFE0-300A2520903F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184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626D9A-D860-B688-DEBF-4076BB3A5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363158"/>
            <a:ext cx="12191999" cy="1284506"/>
          </a:xfrm>
        </p:spPr>
        <p:txBody>
          <a:bodyPr>
            <a:normAutofit/>
          </a:bodyPr>
          <a:lstStyle/>
          <a:p>
            <a:r>
              <a:rPr lang="en-CA" sz="6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Travail pratique (collectif)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42AB556-2FD7-772E-E112-0DDA17839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62575"/>
            <a:ext cx="9144000" cy="462837"/>
          </a:xfrm>
        </p:spPr>
        <p:txBody>
          <a:bodyPr/>
          <a:lstStyle/>
          <a:p>
            <a:r>
              <a:rPr lang="en-CA" i="1"/>
              <a:t>Partie 1 : Analyse des besoins d’affaires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84413078-5421-AE3F-65B4-D733366809B7}"/>
              </a:ext>
            </a:extLst>
          </p:cNvPr>
          <p:cNvSpPr txBox="1">
            <a:spLocks/>
          </p:cNvSpPr>
          <p:nvPr/>
        </p:nvSpPr>
        <p:spPr>
          <a:xfrm>
            <a:off x="0" y="4065998"/>
            <a:ext cx="12192000" cy="26658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u="sng" dirty="0"/>
              <a:t>Travail par </a:t>
            </a:r>
            <a:r>
              <a:rPr lang="en-CA" b="1" u="sng" dirty="0" err="1"/>
              <a:t>l’équipe</a:t>
            </a:r>
            <a:r>
              <a:rPr lang="en-CA" b="1" u="sng" dirty="0"/>
              <a:t> A </a:t>
            </a:r>
            <a:r>
              <a:rPr lang="en-CA" u="sng" dirty="0"/>
              <a:t>: </a:t>
            </a:r>
          </a:p>
          <a:p>
            <a:endParaRPr lang="en-CA" i="1" dirty="0"/>
          </a:p>
          <a:p>
            <a:r>
              <a:rPr lang="en-CA" dirty="0"/>
              <a:t>Clara Dragon </a:t>
            </a:r>
          </a:p>
          <a:p>
            <a:r>
              <a:rPr lang="en-CA" dirty="0"/>
              <a:t>Lyna Smail </a:t>
            </a:r>
          </a:p>
          <a:p>
            <a:r>
              <a:rPr lang="en-CA" dirty="0"/>
              <a:t>Sara </a:t>
            </a:r>
            <a:r>
              <a:rPr lang="en-CA" dirty="0" err="1"/>
              <a:t>Talbe</a:t>
            </a:r>
            <a:r>
              <a:rPr lang="en-CA" dirty="0"/>
              <a:t> </a:t>
            </a:r>
          </a:p>
          <a:p>
            <a:r>
              <a:rPr lang="en-CA" dirty="0"/>
              <a:t>Estha </a:t>
            </a:r>
            <a:r>
              <a:rPr lang="en-CA" dirty="0" err="1"/>
              <a:t>Wamonakeba</a:t>
            </a:r>
            <a:r>
              <a:rPr lang="en-CA" dirty="0"/>
              <a:t> </a:t>
            </a:r>
            <a:r>
              <a:rPr lang="en-CA" dirty="0" err="1"/>
              <a:t>Tshiya</a:t>
            </a:r>
            <a:endParaRPr lang="en-CA" dirty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72EE1457-ECA4-587C-C31A-B90C7856AF43}"/>
              </a:ext>
            </a:extLst>
          </p:cNvPr>
          <p:cNvSpPr txBox="1">
            <a:spLocks/>
          </p:cNvSpPr>
          <p:nvPr/>
        </p:nvSpPr>
        <p:spPr>
          <a:xfrm>
            <a:off x="1524000" y="3190224"/>
            <a:ext cx="9144000" cy="462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>
                <a:solidFill>
                  <a:srgbClr val="156082"/>
                </a:solidFill>
              </a:rPr>
              <a:t>Cas Crunchy</a:t>
            </a:r>
          </a:p>
        </p:txBody>
      </p:sp>
    </p:spTree>
    <p:extLst>
      <p:ext uri="{BB962C8B-B14F-4D97-AF65-F5344CB8AC3E}">
        <p14:creationId xmlns:p14="http://schemas.microsoft.com/office/powerpoint/2010/main" val="320006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042110-9A51-05E7-3280-9590053E99A4}"/>
              </a:ext>
            </a:extLst>
          </p:cNvPr>
          <p:cNvSpPr/>
          <p:nvPr/>
        </p:nvSpPr>
        <p:spPr>
          <a:xfrm>
            <a:off x="5380163" y="2654783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Company Code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cxnSp>
        <p:nvCxnSpPr>
          <p:cNvPr id="12" name="Connector: Elbow 168">
            <a:extLst>
              <a:ext uri="{FF2B5EF4-FFF2-40B4-BE49-F238E27FC236}">
                <a16:creationId xmlns:a16="http://schemas.microsoft.com/office/drawing/2014/main" id="{990C49C2-94AF-A31B-7BCD-D8C86DCC4B00}"/>
              </a:ext>
            </a:extLst>
          </p:cNvPr>
          <p:cNvCxnSpPr>
            <a:cxnSpLocks/>
            <a:stCxn id="52" idx="2"/>
            <a:endCxn id="24" idx="3"/>
          </p:cNvCxnSpPr>
          <p:nvPr/>
        </p:nvCxnSpPr>
        <p:spPr>
          <a:xfrm rot="5400000">
            <a:off x="7015265" y="3024505"/>
            <a:ext cx="615998" cy="129540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51A1DDA-3AF3-A8A1-297C-593655A03C9B}"/>
              </a:ext>
            </a:extLst>
          </p:cNvPr>
          <p:cNvSpPr/>
          <p:nvPr/>
        </p:nvSpPr>
        <p:spPr>
          <a:xfrm>
            <a:off x="841087" y="262611"/>
            <a:ext cx="3327396" cy="21156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0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area: ### - 14 - 00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A782FE-A7B5-00FC-EEB2-ACB9B3351839}"/>
              </a:ext>
            </a:extLst>
          </p:cNvPr>
          <p:cNvSpPr/>
          <p:nvPr/>
        </p:nvSpPr>
        <p:spPr>
          <a:xfrm>
            <a:off x="1842057" y="571607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Sales Organisation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cxnSp>
        <p:nvCxnSpPr>
          <p:cNvPr id="15" name="Connector: Elbow 168">
            <a:extLst>
              <a:ext uri="{FF2B5EF4-FFF2-40B4-BE49-F238E27FC236}">
                <a16:creationId xmlns:a16="http://schemas.microsoft.com/office/drawing/2014/main" id="{308284B5-F77B-81AB-7C87-C12DC847E0BB}"/>
              </a:ext>
            </a:extLst>
          </p:cNvPr>
          <p:cNvCxnSpPr>
            <a:cxnSpLocks/>
            <a:stCxn id="18" idx="0"/>
            <a:endCxn id="14" idx="3"/>
          </p:cNvCxnSpPr>
          <p:nvPr/>
        </p:nvCxnSpPr>
        <p:spPr>
          <a:xfrm rot="16200000" flipV="1">
            <a:off x="2928281" y="1133671"/>
            <a:ext cx="528619" cy="11026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75BB6B9-9957-E641-6779-264F59C9DA13}"/>
              </a:ext>
            </a:extLst>
          </p:cNvPr>
          <p:cNvSpPr/>
          <p:nvPr/>
        </p:nvSpPr>
        <p:spPr>
          <a:xfrm>
            <a:off x="5555798" y="4805353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Storage Location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02</a:t>
            </a:r>
          </a:p>
        </p:txBody>
      </p:sp>
      <p:cxnSp>
        <p:nvCxnSpPr>
          <p:cNvPr id="17" name="Connector: Elbow 168">
            <a:extLst>
              <a:ext uri="{FF2B5EF4-FFF2-40B4-BE49-F238E27FC236}">
                <a16:creationId xmlns:a16="http://schemas.microsoft.com/office/drawing/2014/main" id="{1544EBED-FB0D-BC00-B9E9-B59F0278DBD6}"/>
              </a:ext>
            </a:extLst>
          </p:cNvPr>
          <p:cNvCxnSpPr>
            <a:cxnSpLocks/>
            <a:stCxn id="22" idx="0"/>
            <a:endCxn id="14" idx="1"/>
          </p:cNvCxnSpPr>
          <p:nvPr/>
        </p:nvCxnSpPr>
        <p:spPr>
          <a:xfrm rot="5400000" flipH="1" flipV="1">
            <a:off x="1532867" y="1143922"/>
            <a:ext cx="528619" cy="8976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53D51-9FAA-7CB8-4AD7-F5C347626550}"/>
              </a:ext>
            </a:extLst>
          </p:cNvPr>
          <p:cNvSpPr/>
          <p:nvPr/>
        </p:nvSpPr>
        <p:spPr>
          <a:xfrm>
            <a:off x="2600021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Distribution Channel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14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83DF9DA-9A95-8A0D-CFC5-13EF9E1DE854}"/>
              </a:ext>
            </a:extLst>
          </p:cNvPr>
          <p:cNvSpPr/>
          <p:nvPr/>
        </p:nvSpPr>
        <p:spPr>
          <a:xfrm>
            <a:off x="4067736" y="4815590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Storage Location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88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350B03-1AEB-7930-7B23-D92CB816AAFB}"/>
              </a:ext>
            </a:extLst>
          </p:cNvPr>
          <p:cNvSpPr/>
          <p:nvPr/>
        </p:nvSpPr>
        <p:spPr>
          <a:xfrm>
            <a:off x="1104594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Division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3F26AA-D9B1-95D5-DBFB-75B4BF05E2CB}"/>
              </a:ext>
            </a:extLst>
          </p:cNvPr>
          <p:cNvSpPr/>
          <p:nvPr/>
        </p:nvSpPr>
        <p:spPr>
          <a:xfrm>
            <a:off x="5380162" y="3627319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Plant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98FC82-B1E4-AF03-C11C-1A66D62EF61C}"/>
              </a:ext>
            </a:extLst>
          </p:cNvPr>
          <p:cNvSpPr/>
          <p:nvPr/>
        </p:nvSpPr>
        <p:spPr>
          <a:xfrm>
            <a:off x="4364166" y="262611"/>
            <a:ext cx="3327396" cy="21156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0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area: ### - 12 - 00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BAC17ED-3713-4C37-39B5-C8EE60533FDD}"/>
              </a:ext>
            </a:extLst>
          </p:cNvPr>
          <p:cNvSpPr/>
          <p:nvPr/>
        </p:nvSpPr>
        <p:spPr>
          <a:xfrm>
            <a:off x="5363137" y="571607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Sales Organisation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cxnSp>
        <p:nvCxnSpPr>
          <p:cNvPr id="31" name="Connector: Elbow 168">
            <a:extLst>
              <a:ext uri="{FF2B5EF4-FFF2-40B4-BE49-F238E27FC236}">
                <a16:creationId xmlns:a16="http://schemas.microsoft.com/office/drawing/2014/main" id="{CA3F58D4-77B1-FA6F-F9C6-4C6011912A59}"/>
              </a:ext>
            </a:extLst>
          </p:cNvPr>
          <p:cNvCxnSpPr>
            <a:cxnSpLocks/>
            <a:stCxn id="33" idx="0"/>
            <a:endCxn id="30" idx="3"/>
          </p:cNvCxnSpPr>
          <p:nvPr/>
        </p:nvCxnSpPr>
        <p:spPr>
          <a:xfrm rot="16200000" flipV="1">
            <a:off x="6449361" y="1133671"/>
            <a:ext cx="528619" cy="11026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168">
            <a:extLst>
              <a:ext uri="{FF2B5EF4-FFF2-40B4-BE49-F238E27FC236}">
                <a16:creationId xmlns:a16="http://schemas.microsoft.com/office/drawing/2014/main" id="{7C883F75-D57D-3512-E997-93F9CA2F69E5}"/>
              </a:ext>
            </a:extLst>
          </p:cNvPr>
          <p:cNvCxnSpPr>
            <a:cxnSpLocks/>
            <a:stCxn id="34" idx="0"/>
            <a:endCxn id="30" idx="1"/>
          </p:cNvCxnSpPr>
          <p:nvPr/>
        </p:nvCxnSpPr>
        <p:spPr>
          <a:xfrm rot="5400000" flipH="1" flipV="1">
            <a:off x="5053947" y="1143922"/>
            <a:ext cx="528619" cy="8976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948B0701-D410-65D1-5358-FD8339777E70}"/>
              </a:ext>
            </a:extLst>
          </p:cNvPr>
          <p:cNvSpPr/>
          <p:nvPr/>
        </p:nvSpPr>
        <p:spPr>
          <a:xfrm>
            <a:off x="6121101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Distribution Channel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12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1C76F8-6A7A-10D5-F2FD-118CA201AC81}"/>
              </a:ext>
            </a:extLst>
          </p:cNvPr>
          <p:cNvSpPr/>
          <p:nvPr/>
        </p:nvSpPr>
        <p:spPr>
          <a:xfrm>
            <a:off x="4625674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Division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00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9FCCBC-6EF1-963A-2D0F-E16EA09EE039}"/>
              </a:ext>
            </a:extLst>
          </p:cNvPr>
          <p:cNvSpPr/>
          <p:nvPr/>
        </p:nvSpPr>
        <p:spPr>
          <a:xfrm>
            <a:off x="7895931" y="269237"/>
            <a:ext cx="3327396" cy="211564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CA" sz="10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area: ### - 10 - 00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3A7112D-3537-83D7-3670-56ED5E63AAFC}"/>
              </a:ext>
            </a:extLst>
          </p:cNvPr>
          <p:cNvSpPr/>
          <p:nvPr/>
        </p:nvSpPr>
        <p:spPr>
          <a:xfrm>
            <a:off x="8891428" y="571607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Sales Organisation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cxnSp>
        <p:nvCxnSpPr>
          <p:cNvPr id="37" name="Connector: Elbow 168">
            <a:extLst>
              <a:ext uri="{FF2B5EF4-FFF2-40B4-BE49-F238E27FC236}">
                <a16:creationId xmlns:a16="http://schemas.microsoft.com/office/drawing/2014/main" id="{51DBE614-FCB0-129E-C0AE-148A2BD3F323}"/>
              </a:ext>
            </a:extLst>
          </p:cNvPr>
          <p:cNvCxnSpPr>
            <a:cxnSpLocks/>
            <a:stCxn id="39" idx="0"/>
            <a:endCxn id="36" idx="3"/>
          </p:cNvCxnSpPr>
          <p:nvPr/>
        </p:nvCxnSpPr>
        <p:spPr>
          <a:xfrm rot="16200000" flipV="1">
            <a:off x="9977652" y="1133671"/>
            <a:ext cx="528619" cy="110264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168">
            <a:extLst>
              <a:ext uri="{FF2B5EF4-FFF2-40B4-BE49-F238E27FC236}">
                <a16:creationId xmlns:a16="http://schemas.microsoft.com/office/drawing/2014/main" id="{ABD94C48-A57E-967E-19BD-3FD553F4C46B}"/>
              </a:ext>
            </a:extLst>
          </p:cNvPr>
          <p:cNvCxnSpPr>
            <a:cxnSpLocks/>
            <a:stCxn id="40" idx="0"/>
            <a:endCxn id="36" idx="1"/>
          </p:cNvCxnSpPr>
          <p:nvPr/>
        </p:nvCxnSpPr>
        <p:spPr>
          <a:xfrm rot="5400000" flipH="1" flipV="1">
            <a:off x="8582238" y="1143922"/>
            <a:ext cx="528619" cy="89762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0FE35B3-5FD9-CE21-C6B1-C6507C778EAA}"/>
              </a:ext>
            </a:extLst>
          </p:cNvPr>
          <p:cNvSpPr/>
          <p:nvPr/>
        </p:nvSpPr>
        <p:spPr>
          <a:xfrm>
            <a:off x="9649392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Distribution Channel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10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62624D-02E7-AE1B-B966-713C1ADF6DC0}"/>
              </a:ext>
            </a:extLst>
          </p:cNvPr>
          <p:cNvSpPr/>
          <p:nvPr/>
        </p:nvSpPr>
        <p:spPr>
          <a:xfrm>
            <a:off x="8153965" y="1453112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Division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00</a:t>
            </a:r>
          </a:p>
        </p:txBody>
      </p:sp>
      <p:cxnSp>
        <p:nvCxnSpPr>
          <p:cNvPr id="41" name="Connector: Elbow 141">
            <a:extLst>
              <a:ext uri="{FF2B5EF4-FFF2-40B4-BE49-F238E27FC236}">
                <a16:creationId xmlns:a16="http://schemas.microsoft.com/office/drawing/2014/main" id="{1C87664F-EA2C-A0A1-5C1C-CF6D4E3560F9}"/>
              </a:ext>
            </a:extLst>
          </p:cNvPr>
          <p:cNvCxnSpPr>
            <a:cxnSpLocks/>
            <a:stCxn id="6" idx="0"/>
            <a:endCxn id="35" idx="2"/>
          </p:cNvCxnSpPr>
          <p:nvPr/>
        </p:nvCxnSpPr>
        <p:spPr>
          <a:xfrm rot="5400000" flipH="1" flipV="1">
            <a:off x="7658796" y="753951"/>
            <a:ext cx="269900" cy="35317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137">
            <a:extLst>
              <a:ext uri="{FF2B5EF4-FFF2-40B4-BE49-F238E27FC236}">
                <a16:creationId xmlns:a16="http://schemas.microsoft.com/office/drawing/2014/main" id="{5785FBC3-B546-954B-07D7-EE95B31E1A4C}"/>
              </a:ext>
            </a:extLst>
          </p:cNvPr>
          <p:cNvCxnSpPr>
            <a:cxnSpLocks/>
            <a:stCxn id="6" idx="0"/>
            <a:endCxn id="29" idx="2"/>
          </p:cNvCxnSpPr>
          <p:nvPr/>
        </p:nvCxnSpPr>
        <p:spPr>
          <a:xfrm flipV="1">
            <a:off x="6027864" y="2378257"/>
            <a:ext cx="0" cy="276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141">
            <a:extLst>
              <a:ext uri="{FF2B5EF4-FFF2-40B4-BE49-F238E27FC236}">
                <a16:creationId xmlns:a16="http://schemas.microsoft.com/office/drawing/2014/main" id="{4DFAF1DF-8383-9E4A-4BFF-A9E9C699D0EE}"/>
              </a:ext>
            </a:extLst>
          </p:cNvPr>
          <p:cNvCxnSpPr>
            <a:cxnSpLocks/>
            <a:stCxn id="6" idx="0"/>
            <a:endCxn id="13" idx="2"/>
          </p:cNvCxnSpPr>
          <p:nvPr/>
        </p:nvCxnSpPr>
        <p:spPr>
          <a:xfrm rot="16200000" flipV="1">
            <a:off x="4128062" y="754980"/>
            <a:ext cx="276526" cy="35230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0D963AFB-9566-B631-D8FA-D70E1B858DB7}"/>
              </a:ext>
            </a:extLst>
          </p:cNvPr>
          <p:cNvSpPr/>
          <p:nvPr/>
        </p:nvSpPr>
        <p:spPr>
          <a:xfrm>
            <a:off x="7323264" y="2658435"/>
            <a:ext cx="1295401" cy="705772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Purchasing Organisation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12ABF5-041A-E2BA-925D-79076185E7A2}"/>
              </a:ext>
            </a:extLst>
          </p:cNvPr>
          <p:cNvSpPr/>
          <p:nvPr/>
        </p:nvSpPr>
        <p:spPr>
          <a:xfrm>
            <a:off x="9266363" y="2662451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Purchasing Group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100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8C7FEB-E8B5-B0A6-42E5-2AF655123EC3}"/>
              </a:ext>
            </a:extLst>
          </p:cNvPr>
          <p:cNvSpPr/>
          <p:nvPr/>
        </p:nvSpPr>
        <p:spPr>
          <a:xfrm>
            <a:off x="9266362" y="3636555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Purchasing Group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200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CACA63-51A0-03C2-323B-BB238CA9533D}"/>
              </a:ext>
            </a:extLst>
          </p:cNvPr>
          <p:cNvSpPr/>
          <p:nvPr/>
        </p:nvSpPr>
        <p:spPr>
          <a:xfrm>
            <a:off x="3437062" y="2653215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Controlling Area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7A6933B-575A-CE65-9446-E5C0C764DCA0}"/>
              </a:ext>
            </a:extLst>
          </p:cNvPr>
          <p:cNvSpPr/>
          <p:nvPr/>
        </p:nvSpPr>
        <p:spPr>
          <a:xfrm>
            <a:off x="3437062" y="3627319"/>
            <a:ext cx="1295401" cy="705772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Charts of Accounts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INT</a:t>
            </a:r>
          </a:p>
        </p:txBody>
      </p:sp>
      <p:cxnSp>
        <p:nvCxnSpPr>
          <p:cNvPr id="70" name="Straight Arrow Connector 137">
            <a:extLst>
              <a:ext uri="{FF2B5EF4-FFF2-40B4-BE49-F238E27FC236}">
                <a16:creationId xmlns:a16="http://schemas.microsoft.com/office/drawing/2014/main" id="{CDDCD576-0F7A-C1AD-1244-914BBEAC8F31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 flipH="1">
            <a:off x="6027863" y="3360555"/>
            <a:ext cx="1" cy="266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nector: Elbow 141">
            <a:extLst>
              <a:ext uri="{FF2B5EF4-FFF2-40B4-BE49-F238E27FC236}">
                <a16:creationId xmlns:a16="http://schemas.microsoft.com/office/drawing/2014/main" id="{76688266-9084-5469-C5BA-C4999487774E}"/>
              </a:ext>
            </a:extLst>
          </p:cNvPr>
          <p:cNvCxnSpPr>
            <a:cxnSpLocks/>
            <a:stCxn id="24" idx="2"/>
            <a:endCxn id="16" idx="0"/>
          </p:cNvCxnSpPr>
          <p:nvPr/>
        </p:nvCxnSpPr>
        <p:spPr>
          <a:xfrm rot="16200000" flipH="1">
            <a:off x="5879550" y="4481404"/>
            <a:ext cx="472262" cy="1756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141">
            <a:extLst>
              <a:ext uri="{FF2B5EF4-FFF2-40B4-BE49-F238E27FC236}">
                <a16:creationId xmlns:a16="http://schemas.microsoft.com/office/drawing/2014/main" id="{83ABCE94-FACB-A070-996E-776593CCE2B3}"/>
              </a:ext>
            </a:extLst>
          </p:cNvPr>
          <p:cNvCxnSpPr>
            <a:cxnSpLocks/>
            <a:stCxn id="24" idx="2"/>
            <a:endCxn id="21" idx="0"/>
          </p:cNvCxnSpPr>
          <p:nvPr/>
        </p:nvCxnSpPr>
        <p:spPr>
          <a:xfrm rot="5400000">
            <a:off x="5130401" y="3918127"/>
            <a:ext cx="482499" cy="131242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nector: Elbow 141">
            <a:extLst>
              <a:ext uri="{FF2B5EF4-FFF2-40B4-BE49-F238E27FC236}">
                <a16:creationId xmlns:a16="http://schemas.microsoft.com/office/drawing/2014/main" id="{F6991154-60CF-4D70-16F8-AFB07DAC71B4}"/>
              </a:ext>
            </a:extLst>
          </p:cNvPr>
          <p:cNvCxnSpPr>
            <a:cxnSpLocks/>
            <a:stCxn id="52" idx="3"/>
            <a:endCxn id="55" idx="1"/>
          </p:cNvCxnSpPr>
          <p:nvPr/>
        </p:nvCxnSpPr>
        <p:spPr>
          <a:xfrm>
            <a:off x="8618665" y="3011321"/>
            <a:ext cx="647697" cy="97812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137">
            <a:extLst>
              <a:ext uri="{FF2B5EF4-FFF2-40B4-BE49-F238E27FC236}">
                <a16:creationId xmlns:a16="http://schemas.microsoft.com/office/drawing/2014/main" id="{55B99D25-2B8C-4384-2B76-B53EE32D661C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8618665" y="3011321"/>
            <a:ext cx="647698" cy="4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137">
            <a:extLst>
              <a:ext uri="{FF2B5EF4-FFF2-40B4-BE49-F238E27FC236}">
                <a16:creationId xmlns:a16="http://schemas.microsoft.com/office/drawing/2014/main" id="{A0D1AE2F-B5CD-71AB-E2BC-174BDAB3FBCA}"/>
              </a:ext>
            </a:extLst>
          </p:cNvPr>
          <p:cNvCxnSpPr>
            <a:cxnSpLocks/>
            <a:stCxn id="59" idx="3"/>
            <a:endCxn id="6" idx="1"/>
          </p:cNvCxnSpPr>
          <p:nvPr/>
        </p:nvCxnSpPr>
        <p:spPr>
          <a:xfrm>
            <a:off x="4732463" y="3006101"/>
            <a:ext cx="647700" cy="1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Connector: Elbow 141">
            <a:extLst>
              <a:ext uri="{FF2B5EF4-FFF2-40B4-BE49-F238E27FC236}">
                <a16:creationId xmlns:a16="http://schemas.microsoft.com/office/drawing/2014/main" id="{E9222F01-CDA3-3513-4132-166F5F208C33}"/>
              </a:ext>
            </a:extLst>
          </p:cNvPr>
          <p:cNvCxnSpPr>
            <a:cxnSpLocks/>
            <a:stCxn id="60" idx="3"/>
            <a:endCxn id="6" idx="1"/>
          </p:cNvCxnSpPr>
          <p:nvPr/>
        </p:nvCxnSpPr>
        <p:spPr>
          <a:xfrm flipV="1">
            <a:off x="4732463" y="3007669"/>
            <a:ext cx="647700" cy="9725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37">
            <a:extLst>
              <a:ext uri="{FF2B5EF4-FFF2-40B4-BE49-F238E27FC236}">
                <a16:creationId xmlns:a16="http://schemas.microsoft.com/office/drawing/2014/main" id="{93EA4C19-98F7-B3CC-E04C-ED87B43B0B51}"/>
              </a:ext>
            </a:extLst>
          </p:cNvPr>
          <p:cNvCxnSpPr>
            <a:cxnSpLocks/>
            <a:stCxn id="6" idx="3"/>
            <a:endCxn id="52" idx="1"/>
          </p:cNvCxnSpPr>
          <p:nvPr/>
        </p:nvCxnSpPr>
        <p:spPr>
          <a:xfrm>
            <a:off x="6675564" y="3007669"/>
            <a:ext cx="647700" cy="3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2730353-2A50-A7DB-4692-B9D3718EFA45}"/>
              </a:ext>
            </a:extLst>
          </p:cNvPr>
          <p:cNvSpPr/>
          <p:nvPr/>
        </p:nvSpPr>
        <p:spPr>
          <a:xfrm>
            <a:off x="1577398" y="6242222"/>
            <a:ext cx="1295401" cy="41335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Already Created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AA55ECD-B554-2720-B3C2-2CF5F7C0573F}"/>
              </a:ext>
            </a:extLst>
          </p:cNvPr>
          <p:cNvSpPr/>
          <p:nvPr/>
        </p:nvSpPr>
        <p:spPr>
          <a:xfrm>
            <a:off x="227157" y="6242222"/>
            <a:ext cx="1295401" cy="413355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Must be modified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00D6D58-3955-0058-B02D-308C3BA12C40}"/>
              </a:ext>
            </a:extLst>
          </p:cNvPr>
          <p:cNvSpPr/>
          <p:nvPr/>
        </p:nvSpPr>
        <p:spPr>
          <a:xfrm>
            <a:off x="227158" y="5788342"/>
            <a:ext cx="1295401" cy="413355"/>
          </a:xfrm>
          <a:prstGeom prst="rect">
            <a:avLst/>
          </a:prstGeom>
          <a:solidFill>
            <a:srgbClr val="FF0000">
              <a:alpha val="10196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Must be created once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0E03688-E7AB-264E-5F42-AC8CA24340CF}"/>
              </a:ext>
            </a:extLst>
          </p:cNvPr>
          <p:cNvSpPr/>
          <p:nvPr/>
        </p:nvSpPr>
        <p:spPr>
          <a:xfrm>
            <a:off x="227157" y="5334462"/>
            <a:ext cx="2645642" cy="4133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Note : </a:t>
            </a:r>
            <a:b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Replace ### by the Company Code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567F39-DD04-FFB0-B571-856AE4A9C397}"/>
              </a:ext>
            </a:extLst>
          </p:cNvPr>
          <p:cNvSpPr/>
          <p:nvPr/>
        </p:nvSpPr>
        <p:spPr>
          <a:xfrm>
            <a:off x="1577399" y="5788342"/>
            <a:ext cx="1295401" cy="4133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Must be created for every product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1AB7D2-D206-7A64-AE4B-5765F4EB0427}"/>
              </a:ext>
            </a:extLst>
          </p:cNvPr>
          <p:cNvSpPr/>
          <p:nvPr/>
        </p:nvSpPr>
        <p:spPr>
          <a:xfrm>
            <a:off x="9266361" y="4628690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Purchasing Group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Ingrédients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999</a:t>
            </a:r>
          </a:p>
        </p:txBody>
      </p:sp>
      <p:cxnSp>
        <p:nvCxnSpPr>
          <p:cNvPr id="4" name="Connector: Elbow 141">
            <a:extLst>
              <a:ext uri="{FF2B5EF4-FFF2-40B4-BE49-F238E27FC236}">
                <a16:creationId xmlns:a16="http://schemas.microsoft.com/office/drawing/2014/main" id="{8039B83C-B6BF-8408-BA9E-9472E2D73303}"/>
              </a:ext>
            </a:extLst>
          </p:cNvPr>
          <p:cNvCxnSpPr>
            <a:cxnSpLocks/>
            <a:stCxn id="52" idx="3"/>
            <a:endCxn id="3" idx="1"/>
          </p:cNvCxnSpPr>
          <p:nvPr/>
        </p:nvCxnSpPr>
        <p:spPr>
          <a:xfrm>
            <a:off x="8618665" y="3011321"/>
            <a:ext cx="647696" cy="197025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0A245D4D-8240-AD9F-C0F3-9906A43A165E}"/>
              </a:ext>
            </a:extLst>
          </p:cNvPr>
          <p:cNvSpPr/>
          <p:nvPr/>
        </p:nvSpPr>
        <p:spPr>
          <a:xfrm>
            <a:off x="7043861" y="4815589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Storage Location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11</a:t>
            </a:r>
          </a:p>
        </p:txBody>
      </p:sp>
      <p:cxnSp>
        <p:nvCxnSpPr>
          <p:cNvPr id="10" name="Connector: Elbow 141">
            <a:extLst>
              <a:ext uri="{FF2B5EF4-FFF2-40B4-BE49-F238E27FC236}">
                <a16:creationId xmlns:a16="http://schemas.microsoft.com/office/drawing/2014/main" id="{58B124A9-D9EE-A99C-999B-FD9F03843AE5}"/>
              </a:ext>
            </a:extLst>
          </p:cNvPr>
          <p:cNvCxnSpPr>
            <a:cxnSpLocks/>
            <a:stCxn id="24" idx="2"/>
            <a:endCxn id="9" idx="0"/>
          </p:cNvCxnSpPr>
          <p:nvPr/>
        </p:nvCxnSpPr>
        <p:spPr>
          <a:xfrm rot="16200000" flipH="1">
            <a:off x="6618463" y="3742490"/>
            <a:ext cx="482498" cy="166369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63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B059-262E-84EE-72DE-D393F6D0B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B0DBA0-02C2-2D6F-24C2-2A0C525986D3}"/>
              </a:ext>
            </a:extLst>
          </p:cNvPr>
          <p:cNvSpPr/>
          <p:nvPr/>
        </p:nvSpPr>
        <p:spPr>
          <a:xfrm>
            <a:off x="6860885" y="805171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Large plastic bag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###-P02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1F25A-81C3-59B3-B4C5-21631191FDE5}"/>
              </a:ext>
            </a:extLst>
          </p:cNvPr>
          <p:cNvSpPr/>
          <p:nvPr/>
        </p:nvSpPr>
        <p:spPr>
          <a:xfrm>
            <a:off x="6860885" y="214360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Large box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###-P01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3116EB-7B92-7E7B-1532-9AE074D0C1BA}"/>
              </a:ext>
            </a:extLst>
          </p:cNvPr>
          <p:cNvSpPr/>
          <p:nvPr/>
        </p:nvSpPr>
        <p:spPr>
          <a:xfrm>
            <a:off x="6860882" y="139315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Small box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###-P03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FF1D37-8C05-2DC0-A6F5-9B5B2681ABA1}"/>
              </a:ext>
            </a:extLst>
          </p:cNvPr>
          <p:cNvSpPr/>
          <p:nvPr/>
        </p:nvSpPr>
        <p:spPr>
          <a:xfrm>
            <a:off x="6860882" y="1980396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Small plastic bag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###-P04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A7C8C8-C6C7-13B5-04B7-0E6F90BEA1CB}"/>
              </a:ext>
            </a:extLst>
          </p:cNvPr>
          <p:cNvSpPr/>
          <p:nvPr/>
        </p:nvSpPr>
        <p:spPr>
          <a:xfrm>
            <a:off x="8556335" y="805171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81F9C0-E67F-A97C-1283-47584A083A5C}"/>
              </a:ext>
            </a:extLst>
          </p:cNvPr>
          <p:cNvSpPr/>
          <p:nvPr/>
        </p:nvSpPr>
        <p:spPr>
          <a:xfrm>
            <a:off x="8556335" y="214360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8681E2-E747-3B70-3F8D-2F192723507E}"/>
              </a:ext>
            </a:extLst>
          </p:cNvPr>
          <p:cNvSpPr/>
          <p:nvPr/>
        </p:nvSpPr>
        <p:spPr>
          <a:xfrm>
            <a:off x="8556332" y="139315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2A4BD-E6E5-8CCA-7E7F-15A090820317}"/>
              </a:ext>
            </a:extLst>
          </p:cNvPr>
          <p:cNvSpPr/>
          <p:nvPr/>
        </p:nvSpPr>
        <p:spPr>
          <a:xfrm>
            <a:off x="8556332" y="1980396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ED7806-F684-1156-8C89-53660102E655}"/>
              </a:ext>
            </a:extLst>
          </p:cNvPr>
          <p:cNvSpPr/>
          <p:nvPr/>
        </p:nvSpPr>
        <p:spPr>
          <a:xfrm>
            <a:off x="6860890" y="262058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Nut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0108FC-2EE3-24AA-D8F1-680AD92ADEA2}"/>
              </a:ext>
            </a:extLst>
          </p:cNvPr>
          <p:cNvSpPr/>
          <p:nvPr/>
        </p:nvSpPr>
        <p:spPr>
          <a:xfrm>
            <a:off x="10251785" y="1011302"/>
            <a:ext cx="1295401" cy="705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Vendor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Continental printing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V02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B0AE84-4D55-7D81-1864-6E9FB0FF7979}"/>
              </a:ext>
            </a:extLst>
          </p:cNvPr>
          <p:cNvSpPr/>
          <p:nvPr/>
        </p:nvSpPr>
        <p:spPr>
          <a:xfrm>
            <a:off x="6860882" y="3207827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Blueberries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6DA28A-AB8A-6F21-B494-E2217722BA05}"/>
              </a:ext>
            </a:extLst>
          </p:cNvPr>
          <p:cNvSpPr/>
          <p:nvPr/>
        </p:nvSpPr>
        <p:spPr>
          <a:xfrm>
            <a:off x="8556331" y="3207827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740BAB-10FA-8419-1137-62852CA3F19E}"/>
              </a:ext>
            </a:extLst>
          </p:cNvPr>
          <p:cNvSpPr/>
          <p:nvPr/>
        </p:nvSpPr>
        <p:spPr>
          <a:xfrm>
            <a:off x="10251785" y="3842106"/>
            <a:ext cx="1295401" cy="705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Vendor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Food broker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V01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349FD1-FE3D-A18D-12BD-32C1DD3AE97D}"/>
              </a:ext>
            </a:extLst>
          </p:cNvPr>
          <p:cNvSpPr/>
          <p:nvPr/>
        </p:nvSpPr>
        <p:spPr>
          <a:xfrm>
            <a:off x="8556338" y="262058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934A61-90D7-3545-91C0-B18E08AF934E}"/>
              </a:ext>
            </a:extLst>
          </p:cNvPr>
          <p:cNvSpPr/>
          <p:nvPr/>
        </p:nvSpPr>
        <p:spPr>
          <a:xfrm>
            <a:off x="2441566" y="1911724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Work Center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Usine de production 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99DAF8-ECB9-7497-ECA4-6F290544DF40}"/>
              </a:ext>
            </a:extLst>
          </p:cNvPr>
          <p:cNvSpPr/>
          <p:nvPr/>
        </p:nvSpPr>
        <p:spPr>
          <a:xfrm>
            <a:off x="4143374" y="115283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Bill of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7DAFAA-F89E-8028-83A5-B4692C474810}"/>
              </a:ext>
            </a:extLst>
          </p:cNvPr>
          <p:cNvSpPr/>
          <p:nvPr/>
        </p:nvSpPr>
        <p:spPr>
          <a:xfrm>
            <a:off x="2447923" y="115283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Finished Product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Muesli Original Crunchy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6B8828-EA0D-8BDD-AB98-64B45AE7D123}"/>
              </a:ext>
            </a:extLst>
          </p:cNvPr>
          <p:cNvSpPr/>
          <p:nvPr/>
        </p:nvSpPr>
        <p:spPr>
          <a:xfrm>
            <a:off x="2447922" y="963008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Routing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104480-1E14-4912-0C4C-704ABFBD3979}"/>
              </a:ext>
            </a:extLst>
          </p:cNvPr>
          <p:cNvSpPr/>
          <p:nvPr/>
        </p:nvSpPr>
        <p:spPr>
          <a:xfrm>
            <a:off x="217326" y="1011301"/>
            <a:ext cx="1301755" cy="705772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Price List</a:t>
            </a:r>
          </a:p>
        </p:txBody>
      </p:sp>
      <p:cxnSp>
        <p:nvCxnSpPr>
          <p:cNvPr id="33" name="Connector: Elbow 34">
            <a:extLst>
              <a:ext uri="{FF2B5EF4-FFF2-40B4-BE49-F238E27FC236}">
                <a16:creationId xmlns:a16="http://schemas.microsoft.com/office/drawing/2014/main" id="{DF2A335C-AC87-A330-6347-9847BD70DF49}"/>
              </a:ext>
            </a:extLst>
          </p:cNvPr>
          <p:cNvCxnSpPr>
            <a:cxnSpLocks/>
            <a:stCxn id="16" idx="1"/>
            <a:endCxn id="11" idx="3"/>
          </p:cNvCxnSpPr>
          <p:nvPr/>
        </p:nvCxnSpPr>
        <p:spPr>
          <a:xfrm rot="10800000">
            <a:off x="9851737" y="468790"/>
            <a:ext cx="400049" cy="8953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40">
            <a:extLst>
              <a:ext uri="{FF2B5EF4-FFF2-40B4-BE49-F238E27FC236}">
                <a16:creationId xmlns:a16="http://schemas.microsoft.com/office/drawing/2014/main" id="{B0834610-52D1-0FED-644E-057548B1E998}"/>
              </a:ext>
            </a:extLst>
          </p:cNvPr>
          <p:cNvCxnSpPr>
            <a:cxnSpLocks/>
            <a:stCxn id="16" idx="1"/>
            <a:endCxn id="10" idx="3"/>
          </p:cNvCxnSpPr>
          <p:nvPr/>
        </p:nvCxnSpPr>
        <p:spPr>
          <a:xfrm rot="10800000">
            <a:off x="9851737" y="1059602"/>
            <a:ext cx="400049" cy="3045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43">
            <a:extLst>
              <a:ext uri="{FF2B5EF4-FFF2-40B4-BE49-F238E27FC236}">
                <a16:creationId xmlns:a16="http://schemas.microsoft.com/office/drawing/2014/main" id="{38A10E40-8753-99EB-9EFC-FC0A27931651}"/>
              </a:ext>
            </a:extLst>
          </p:cNvPr>
          <p:cNvCxnSpPr>
            <a:cxnSpLocks/>
            <a:stCxn id="16" idx="1"/>
            <a:endCxn id="12" idx="3"/>
          </p:cNvCxnSpPr>
          <p:nvPr/>
        </p:nvCxnSpPr>
        <p:spPr>
          <a:xfrm rot="10800000" flipV="1">
            <a:off x="9851733" y="1364187"/>
            <a:ext cx="400052" cy="283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46">
            <a:extLst>
              <a:ext uri="{FF2B5EF4-FFF2-40B4-BE49-F238E27FC236}">
                <a16:creationId xmlns:a16="http://schemas.microsoft.com/office/drawing/2014/main" id="{67A9DD0A-0C44-37B8-B685-57AAB9490715}"/>
              </a:ext>
            </a:extLst>
          </p:cNvPr>
          <p:cNvCxnSpPr>
            <a:cxnSpLocks/>
            <a:stCxn id="16" idx="1"/>
            <a:endCxn id="13" idx="3"/>
          </p:cNvCxnSpPr>
          <p:nvPr/>
        </p:nvCxnSpPr>
        <p:spPr>
          <a:xfrm rot="10800000" flipV="1">
            <a:off x="9851733" y="1364188"/>
            <a:ext cx="400052" cy="870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50">
            <a:extLst>
              <a:ext uri="{FF2B5EF4-FFF2-40B4-BE49-F238E27FC236}">
                <a16:creationId xmlns:a16="http://schemas.microsoft.com/office/drawing/2014/main" id="{465096AC-CDFF-2EBB-01B8-AB2B9E7193AE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9851739" y="2875014"/>
            <a:ext cx="400046" cy="131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54">
            <a:extLst>
              <a:ext uri="{FF2B5EF4-FFF2-40B4-BE49-F238E27FC236}">
                <a16:creationId xmlns:a16="http://schemas.microsoft.com/office/drawing/2014/main" id="{AF6A8F05-739D-0E0A-2476-1D089660CC83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>
          <a:xfrm rot="10800000">
            <a:off x="9851733" y="3462258"/>
            <a:ext cx="400053" cy="7327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63">
            <a:extLst>
              <a:ext uri="{FF2B5EF4-FFF2-40B4-BE49-F238E27FC236}">
                <a16:creationId xmlns:a16="http://schemas.microsoft.com/office/drawing/2014/main" id="{C4B6E319-9DA4-6042-0D12-823C813A1B78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8156286" y="468790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66">
            <a:extLst>
              <a:ext uri="{FF2B5EF4-FFF2-40B4-BE49-F238E27FC236}">
                <a16:creationId xmlns:a16="http://schemas.microsoft.com/office/drawing/2014/main" id="{65BD4E0D-6EDD-C2D1-70C2-00C292CF6FA7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8156286" y="1059601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69">
            <a:extLst>
              <a:ext uri="{FF2B5EF4-FFF2-40B4-BE49-F238E27FC236}">
                <a16:creationId xmlns:a16="http://schemas.microsoft.com/office/drawing/2014/main" id="{241CD840-EBBE-5AA4-D503-29134A6A1C9F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8156283" y="1647583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73">
            <a:extLst>
              <a:ext uri="{FF2B5EF4-FFF2-40B4-BE49-F238E27FC236}">
                <a16:creationId xmlns:a16="http://schemas.microsoft.com/office/drawing/2014/main" id="{576975E3-B6F1-0655-5C61-9247CD749AA9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8156283" y="2234826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81">
            <a:extLst>
              <a:ext uri="{FF2B5EF4-FFF2-40B4-BE49-F238E27FC236}">
                <a16:creationId xmlns:a16="http://schemas.microsoft.com/office/drawing/2014/main" id="{F830E755-08FA-FC85-CB83-68097D531AB6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8156291" y="2875013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84">
            <a:extLst>
              <a:ext uri="{FF2B5EF4-FFF2-40B4-BE49-F238E27FC236}">
                <a16:creationId xmlns:a16="http://schemas.microsoft.com/office/drawing/2014/main" id="{A6E80A22-64FA-8AC9-FD3B-E0E4A35458ED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156283" y="3462257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127">
            <a:extLst>
              <a:ext uri="{FF2B5EF4-FFF2-40B4-BE49-F238E27FC236}">
                <a16:creationId xmlns:a16="http://schemas.microsoft.com/office/drawing/2014/main" id="{19679232-43D7-A13D-37D1-EC05CCF6B4D7}"/>
              </a:ext>
            </a:extLst>
          </p:cNvPr>
          <p:cNvCxnSpPr>
            <a:cxnSpLocks/>
            <a:stCxn id="25" idx="0"/>
            <a:endCxn id="28" idx="2"/>
          </p:cNvCxnSpPr>
          <p:nvPr/>
        </p:nvCxnSpPr>
        <p:spPr>
          <a:xfrm flipV="1">
            <a:off x="3089267" y="1668780"/>
            <a:ext cx="6356" cy="242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132">
            <a:extLst>
              <a:ext uri="{FF2B5EF4-FFF2-40B4-BE49-F238E27FC236}">
                <a16:creationId xmlns:a16="http://schemas.microsoft.com/office/drawing/2014/main" id="{D66A09C5-136E-24E7-C13E-2CD01F857DF7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3095623" y="821055"/>
            <a:ext cx="1" cy="141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37">
            <a:extLst>
              <a:ext uri="{FF2B5EF4-FFF2-40B4-BE49-F238E27FC236}">
                <a16:creationId xmlns:a16="http://schemas.microsoft.com/office/drawing/2014/main" id="{F4D50278-0EE7-947B-4C1F-9F06D3EC2A99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3743324" y="468169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141">
            <a:extLst>
              <a:ext uri="{FF2B5EF4-FFF2-40B4-BE49-F238E27FC236}">
                <a16:creationId xmlns:a16="http://schemas.microsoft.com/office/drawing/2014/main" id="{34C475B4-3349-E8CE-F5C0-525263327599}"/>
              </a:ext>
            </a:extLst>
          </p:cNvPr>
          <p:cNvCxnSpPr>
            <a:cxnSpLocks/>
            <a:stCxn id="27" idx="1"/>
            <a:endCxn id="32" idx="3"/>
          </p:cNvCxnSpPr>
          <p:nvPr/>
        </p:nvCxnSpPr>
        <p:spPr>
          <a:xfrm rot="10800000" flipV="1">
            <a:off x="1519081" y="468169"/>
            <a:ext cx="928842" cy="8960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171">
            <a:extLst>
              <a:ext uri="{FF2B5EF4-FFF2-40B4-BE49-F238E27FC236}">
                <a16:creationId xmlns:a16="http://schemas.microsoft.com/office/drawing/2014/main" id="{75D2CCD1-6AF9-E296-65DF-9F0CF07BB3A2}"/>
              </a:ext>
            </a:extLst>
          </p:cNvPr>
          <p:cNvCxnSpPr>
            <a:cxnSpLocks/>
            <a:stCxn id="4" idx="1"/>
            <a:endCxn id="26" idx="3"/>
          </p:cNvCxnSpPr>
          <p:nvPr/>
        </p:nvCxnSpPr>
        <p:spPr>
          <a:xfrm rot="10800000">
            <a:off x="5438775" y="468169"/>
            <a:ext cx="1422110" cy="591432"/>
          </a:xfrm>
          <a:prstGeom prst="bentConnector3">
            <a:avLst>
              <a:gd name="adj1" fmla="val 328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174">
            <a:extLst>
              <a:ext uri="{FF2B5EF4-FFF2-40B4-BE49-F238E27FC236}">
                <a16:creationId xmlns:a16="http://schemas.microsoft.com/office/drawing/2014/main" id="{9A151C39-73D9-098D-D775-0F644F5C1602}"/>
              </a:ext>
            </a:extLst>
          </p:cNvPr>
          <p:cNvCxnSpPr>
            <a:cxnSpLocks/>
            <a:stCxn id="5" idx="1"/>
            <a:endCxn id="26" idx="3"/>
          </p:cNvCxnSpPr>
          <p:nvPr/>
        </p:nvCxnSpPr>
        <p:spPr>
          <a:xfrm flipH="1" flipV="1">
            <a:off x="5438775" y="468169"/>
            <a:ext cx="1422110" cy="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6BD1342E-E8CC-265F-A3D9-E3F669B4C445}"/>
              </a:ext>
            </a:extLst>
          </p:cNvPr>
          <p:cNvSpPr/>
          <p:nvPr/>
        </p:nvSpPr>
        <p:spPr>
          <a:xfrm>
            <a:off x="2260495" y="35108"/>
            <a:ext cx="3327396" cy="17627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CA" sz="10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Production Version</a:t>
            </a:r>
          </a:p>
        </p:txBody>
      </p:sp>
      <p:cxnSp>
        <p:nvCxnSpPr>
          <p:cNvPr id="83" name="Connector: Elbow 171">
            <a:extLst>
              <a:ext uri="{FF2B5EF4-FFF2-40B4-BE49-F238E27FC236}">
                <a16:creationId xmlns:a16="http://schemas.microsoft.com/office/drawing/2014/main" id="{0D243002-8CB0-E1FC-1831-84D6C1C4E0B5}"/>
              </a:ext>
            </a:extLst>
          </p:cNvPr>
          <p:cNvCxnSpPr>
            <a:cxnSpLocks/>
            <a:stCxn id="6" idx="1"/>
            <a:endCxn id="26" idx="3"/>
          </p:cNvCxnSpPr>
          <p:nvPr/>
        </p:nvCxnSpPr>
        <p:spPr>
          <a:xfrm rot="10800000">
            <a:off x="5438776" y="468169"/>
            <a:ext cx="1422107" cy="1179414"/>
          </a:xfrm>
          <a:prstGeom prst="bentConnector3">
            <a:avLst>
              <a:gd name="adj1" fmla="val 3344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171">
            <a:extLst>
              <a:ext uri="{FF2B5EF4-FFF2-40B4-BE49-F238E27FC236}">
                <a16:creationId xmlns:a16="http://schemas.microsoft.com/office/drawing/2014/main" id="{48E4BA1F-DA1B-5CF1-2124-7E7A535CE7F7}"/>
              </a:ext>
            </a:extLst>
          </p:cNvPr>
          <p:cNvCxnSpPr>
            <a:cxnSpLocks/>
            <a:stCxn id="7" idx="1"/>
            <a:endCxn id="26" idx="3"/>
          </p:cNvCxnSpPr>
          <p:nvPr/>
        </p:nvCxnSpPr>
        <p:spPr>
          <a:xfrm rot="10800000">
            <a:off x="5438776" y="468170"/>
            <a:ext cx="1422107" cy="1766657"/>
          </a:xfrm>
          <a:prstGeom prst="bentConnector3">
            <a:avLst>
              <a:gd name="adj1" fmla="val 328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171">
            <a:extLst>
              <a:ext uri="{FF2B5EF4-FFF2-40B4-BE49-F238E27FC236}">
                <a16:creationId xmlns:a16="http://schemas.microsoft.com/office/drawing/2014/main" id="{2ECB364E-6A38-64FE-D0FD-1F4810CF4D18}"/>
              </a:ext>
            </a:extLst>
          </p:cNvPr>
          <p:cNvCxnSpPr>
            <a:cxnSpLocks/>
            <a:stCxn id="14" idx="1"/>
            <a:endCxn id="26" idx="3"/>
          </p:cNvCxnSpPr>
          <p:nvPr/>
        </p:nvCxnSpPr>
        <p:spPr>
          <a:xfrm rot="10800000">
            <a:off x="5438776" y="468169"/>
            <a:ext cx="1422115" cy="2406844"/>
          </a:xfrm>
          <a:prstGeom prst="bentConnector3">
            <a:avLst>
              <a:gd name="adj1" fmla="val 328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171">
            <a:extLst>
              <a:ext uri="{FF2B5EF4-FFF2-40B4-BE49-F238E27FC236}">
                <a16:creationId xmlns:a16="http://schemas.microsoft.com/office/drawing/2014/main" id="{09081B0C-D688-39F9-8B7C-F581F3D82A3A}"/>
              </a:ext>
            </a:extLst>
          </p:cNvPr>
          <p:cNvCxnSpPr>
            <a:cxnSpLocks/>
            <a:stCxn id="18" idx="1"/>
            <a:endCxn id="26" idx="3"/>
          </p:cNvCxnSpPr>
          <p:nvPr/>
        </p:nvCxnSpPr>
        <p:spPr>
          <a:xfrm rot="10800000">
            <a:off x="5438776" y="468169"/>
            <a:ext cx="1422107" cy="2994088"/>
          </a:xfrm>
          <a:prstGeom prst="bentConnector3">
            <a:avLst>
              <a:gd name="adj1" fmla="val 328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F567F31E-496A-C4D3-E7F6-87BB19774E3A}"/>
              </a:ext>
            </a:extLst>
          </p:cNvPr>
          <p:cNvSpPr/>
          <p:nvPr/>
        </p:nvSpPr>
        <p:spPr>
          <a:xfrm>
            <a:off x="6860881" y="3803086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Strawberries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C422B5C-68B2-6F13-D6DE-DB058C178A37}"/>
              </a:ext>
            </a:extLst>
          </p:cNvPr>
          <p:cNvSpPr/>
          <p:nvPr/>
        </p:nvSpPr>
        <p:spPr>
          <a:xfrm>
            <a:off x="8556329" y="3803086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102" name="Straight Arrow Connector 81">
            <a:extLst>
              <a:ext uri="{FF2B5EF4-FFF2-40B4-BE49-F238E27FC236}">
                <a16:creationId xmlns:a16="http://schemas.microsoft.com/office/drawing/2014/main" id="{5F0FB345-7C6B-12CA-4F6D-0B9FFFC2882E}"/>
              </a:ext>
            </a:extLst>
          </p:cNvPr>
          <p:cNvCxnSpPr>
            <a:cxnSpLocks/>
            <a:stCxn id="98" idx="3"/>
            <a:endCxn id="101" idx="1"/>
          </p:cNvCxnSpPr>
          <p:nvPr/>
        </p:nvCxnSpPr>
        <p:spPr>
          <a:xfrm>
            <a:off x="8156282" y="4057516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E4F3AF5-82C9-C8B5-87FF-9599BA840049}"/>
              </a:ext>
            </a:extLst>
          </p:cNvPr>
          <p:cNvSpPr/>
          <p:nvPr/>
        </p:nvSpPr>
        <p:spPr>
          <a:xfrm>
            <a:off x="6860881" y="4981879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Wheat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###-R05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E2C1809-DC1D-0F7B-D225-4BED87F7DAE7}"/>
              </a:ext>
            </a:extLst>
          </p:cNvPr>
          <p:cNvSpPr/>
          <p:nvPr/>
        </p:nvSpPr>
        <p:spPr>
          <a:xfrm>
            <a:off x="6860880" y="5565415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Oats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###-R06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6332032-94DB-90B2-DCC1-76C29A549B26}"/>
              </a:ext>
            </a:extLst>
          </p:cNvPr>
          <p:cNvSpPr/>
          <p:nvPr/>
        </p:nvSpPr>
        <p:spPr>
          <a:xfrm>
            <a:off x="8556329" y="5565415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74A39D5-B9CC-FF0F-519C-B3B108FA5CC4}"/>
              </a:ext>
            </a:extLst>
          </p:cNvPr>
          <p:cNvSpPr/>
          <p:nvPr/>
        </p:nvSpPr>
        <p:spPr>
          <a:xfrm>
            <a:off x="8556329" y="4981879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130" name="Straight Arrow Connector 81">
            <a:extLst>
              <a:ext uri="{FF2B5EF4-FFF2-40B4-BE49-F238E27FC236}">
                <a16:creationId xmlns:a16="http://schemas.microsoft.com/office/drawing/2014/main" id="{F3B99EDB-E4E5-1A95-7147-18F3CC8976F2}"/>
              </a:ext>
            </a:extLst>
          </p:cNvPr>
          <p:cNvCxnSpPr>
            <a:cxnSpLocks/>
            <a:stCxn id="126" idx="3"/>
            <a:endCxn id="129" idx="1"/>
          </p:cNvCxnSpPr>
          <p:nvPr/>
        </p:nvCxnSpPr>
        <p:spPr>
          <a:xfrm>
            <a:off x="8156282" y="5236309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84">
            <a:extLst>
              <a:ext uri="{FF2B5EF4-FFF2-40B4-BE49-F238E27FC236}">
                <a16:creationId xmlns:a16="http://schemas.microsoft.com/office/drawing/2014/main" id="{A30B03EF-554E-2AF0-1FEB-DF1E30790709}"/>
              </a:ext>
            </a:extLst>
          </p:cNvPr>
          <p:cNvCxnSpPr>
            <a:cxnSpLocks/>
            <a:stCxn id="127" idx="3"/>
            <a:endCxn id="128" idx="1"/>
          </p:cNvCxnSpPr>
          <p:nvPr/>
        </p:nvCxnSpPr>
        <p:spPr>
          <a:xfrm>
            <a:off x="8156281" y="5819845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Connector: Elbow 54">
            <a:extLst>
              <a:ext uri="{FF2B5EF4-FFF2-40B4-BE49-F238E27FC236}">
                <a16:creationId xmlns:a16="http://schemas.microsoft.com/office/drawing/2014/main" id="{666B6EC2-9FB1-3615-193D-30FD8109EA3F}"/>
              </a:ext>
            </a:extLst>
          </p:cNvPr>
          <p:cNvCxnSpPr>
            <a:cxnSpLocks/>
            <a:stCxn id="20" idx="1"/>
            <a:endCxn id="129" idx="3"/>
          </p:cNvCxnSpPr>
          <p:nvPr/>
        </p:nvCxnSpPr>
        <p:spPr>
          <a:xfrm rot="10800000" flipV="1">
            <a:off x="9851731" y="4194991"/>
            <a:ext cx="400055" cy="10413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Connector: Elbow 54">
            <a:extLst>
              <a:ext uri="{FF2B5EF4-FFF2-40B4-BE49-F238E27FC236}">
                <a16:creationId xmlns:a16="http://schemas.microsoft.com/office/drawing/2014/main" id="{49D60A00-31F4-D21B-B0DC-F8B6E7B45917}"/>
              </a:ext>
            </a:extLst>
          </p:cNvPr>
          <p:cNvCxnSpPr>
            <a:cxnSpLocks/>
            <a:stCxn id="20" idx="1"/>
            <a:endCxn id="128" idx="3"/>
          </p:cNvCxnSpPr>
          <p:nvPr/>
        </p:nvCxnSpPr>
        <p:spPr>
          <a:xfrm rot="10800000" flipV="1">
            <a:off x="9851731" y="4194991"/>
            <a:ext cx="400055" cy="16248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F91871A3-5338-7DC6-175F-14E7E2888AF5}"/>
              </a:ext>
            </a:extLst>
          </p:cNvPr>
          <p:cNvSpPr/>
          <p:nvPr/>
        </p:nvSpPr>
        <p:spPr>
          <a:xfrm>
            <a:off x="11147140" y="3128969"/>
            <a:ext cx="830156" cy="44650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800">
                <a:latin typeface="Segoe UI" panose="020B0502040204020203" pitchFamily="34" charset="0"/>
                <a:cs typeface="Segoe UI" panose="020B0502040204020203" pitchFamily="34" charset="0"/>
              </a:rPr>
              <a:t>Already Created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54AC75C-2286-193B-0D22-7043A838A417}"/>
              </a:ext>
            </a:extLst>
          </p:cNvPr>
          <p:cNvSpPr/>
          <p:nvPr/>
        </p:nvSpPr>
        <p:spPr>
          <a:xfrm>
            <a:off x="11147140" y="2569392"/>
            <a:ext cx="830156" cy="446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800">
                <a:latin typeface="Segoe UI" panose="020B0502040204020203" pitchFamily="34" charset="0"/>
                <a:cs typeface="Segoe UI" panose="020B0502040204020203" pitchFamily="34" charset="0"/>
              </a:rPr>
              <a:t>Must be created for every product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0951955-FE77-E966-29E8-EFAC6BF90241}"/>
              </a:ext>
            </a:extLst>
          </p:cNvPr>
          <p:cNvSpPr/>
          <p:nvPr/>
        </p:nvSpPr>
        <p:spPr>
          <a:xfrm>
            <a:off x="10251779" y="3135316"/>
            <a:ext cx="830156" cy="437543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800">
                <a:latin typeface="Segoe UI" panose="020B0502040204020203" pitchFamily="34" charset="0"/>
                <a:cs typeface="Segoe UI" panose="020B0502040204020203" pitchFamily="34" charset="0"/>
              </a:rPr>
              <a:t>Must be modified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606A5742-2544-192A-057D-88BAA6701DD5}"/>
              </a:ext>
            </a:extLst>
          </p:cNvPr>
          <p:cNvSpPr/>
          <p:nvPr/>
        </p:nvSpPr>
        <p:spPr>
          <a:xfrm>
            <a:off x="10251780" y="2572470"/>
            <a:ext cx="830156" cy="450488"/>
          </a:xfrm>
          <a:prstGeom prst="rect">
            <a:avLst/>
          </a:prstGeom>
          <a:solidFill>
            <a:srgbClr val="FF0000">
              <a:alpha val="10196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800">
                <a:latin typeface="Segoe UI" panose="020B0502040204020203" pitchFamily="34" charset="0"/>
                <a:cs typeface="Segoe UI" panose="020B0502040204020203" pitchFamily="34" charset="0"/>
              </a:rPr>
              <a:t>Must be created once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624FFBA9-07E5-5AAF-D225-8CF249D988E6}"/>
              </a:ext>
            </a:extLst>
          </p:cNvPr>
          <p:cNvSpPr/>
          <p:nvPr/>
        </p:nvSpPr>
        <p:spPr>
          <a:xfrm>
            <a:off x="10251779" y="1978975"/>
            <a:ext cx="1695456" cy="5117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Note : </a:t>
            </a:r>
            <a:b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Replace ### by the Company Code</a:t>
            </a:r>
          </a:p>
        </p:txBody>
      </p:sp>
      <p:cxnSp>
        <p:nvCxnSpPr>
          <p:cNvPr id="153" name="Connector: Elbow 171">
            <a:extLst>
              <a:ext uri="{FF2B5EF4-FFF2-40B4-BE49-F238E27FC236}">
                <a16:creationId xmlns:a16="http://schemas.microsoft.com/office/drawing/2014/main" id="{8DBD77FD-EC97-C168-4EE8-2A5D5884BCCD}"/>
              </a:ext>
            </a:extLst>
          </p:cNvPr>
          <p:cNvCxnSpPr>
            <a:cxnSpLocks/>
            <a:stCxn id="98" idx="1"/>
            <a:endCxn id="26" idx="3"/>
          </p:cNvCxnSpPr>
          <p:nvPr/>
        </p:nvCxnSpPr>
        <p:spPr>
          <a:xfrm rot="10800000">
            <a:off x="5438775" y="468170"/>
            <a:ext cx="1422106" cy="3589347"/>
          </a:xfrm>
          <a:prstGeom prst="bentConnector3">
            <a:avLst>
              <a:gd name="adj1" fmla="val 328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Connector: Elbow 171">
            <a:extLst>
              <a:ext uri="{FF2B5EF4-FFF2-40B4-BE49-F238E27FC236}">
                <a16:creationId xmlns:a16="http://schemas.microsoft.com/office/drawing/2014/main" id="{1245731E-AFBC-1746-FF0D-FD0234382EF6}"/>
              </a:ext>
            </a:extLst>
          </p:cNvPr>
          <p:cNvCxnSpPr>
            <a:cxnSpLocks/>
            <a:endCxn id="28" idx="3"/>
          </p:cNvCxnSpPr>
          <p:nvPr/>
        </p:nvCxnSpPr>
        <p:spPr>
          <a:xfrm rot="10800000" flipV="1">
            <a:off x="3743323" y="814622"/>
            <a:ext cx="881232" cy="501272"/>
          </a:xfrm>
          <a:prstGeom prst="bentConnector3">
            <a:avLst>
              <a:gd name="adj1" fmla="val 130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BD92E6E7-75C8-2F76-25E7-B34C76759DB9}"/>
              </a:ext>
            </a:extLst>
          </p:cNvPr>
          <p:cNvSpPr/>
          <p:nvPr/>
        </p:nvSpPr>
        <p:spPr>
          <a:xfrm>
            <a:off x="136861" y="3183567"/>
            <a:ext cx="1301755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Semi-Finished Product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Crunchy 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Z###-S02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1B5C0-ED27-8E50-C7EB-23C982FF95D6}"/>
              </a:ext>
            </a:extLst>
          </p:cNvPr>
          <p:cNvSpPr/>
          <p:nvPr/>
        </p:nvSpPr>
        <p:spPr>
          <a:xfrm>
            <a:off x="10251784" y="6053993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Vendor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HonigStadt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V03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5A8A2A-3EDC-AAB5-E1B9-DEC781734440}"/>
              </a:ext>
            </a:extLst>
          </p:cNvPr>
          <p:cNvSpPr/>
          <p:nvPr/>
        </p:nvSpPr>
        <p:spPr>
          <a:xfrm>
            <a:off x="3140423" y="5055913"/>
            <a:ext cx="133982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Work Center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Mixeur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FAFDEA-88A4-5B74-576C-F5CB7C2BB0B5}"/>
              </a:ext>
            </a:extLst>
          </p:cNvPr>
          <p:cNvSpPr/>
          <p:nvPr/>
        </p:nvSpPr>
        <p:spPr>
          <a:xfrm>
            <a:off x="8556328" y="6154883"/>
            <a:ext cx="1295401" cy="508859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31" name="Straight Arrow Connector 84">
            <a:extLst>
              <a:ext uri="{FF2B5EF4-FFF2-40B4-BE49-F238E27FC236}">
                <a16:creationId xmlns:a16="http://schemas.microsoft.com/office/drawing/2014/main" id="{CAC31EA5-082E-D741-FF4D-57592CAB1BF5}"/>
              </a:ext>
            </a:extLst>
          </p:cNvPr>
          <p:cNvCxnSpPr>
            <a:cxnSpLocks/>
            <a:stCxn id="3" idx="1"/>
            <a:endCxn id="30" idx="3"/>
          </p:cNvCxnSpPr>
          <p:nvPr/>
        </p:nvCxnSpPr>
        <p:spPr>
          <a:xfrm flipH="1">
            <a:off x="9851729" y="6406879"/>
            <a:ext cx="400055" cy="2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BB231EB6-CE3F-8B4F-86D6-A3CECD759A93}"/>
              </a:ext>
            </a:extLst>
          </p:cNvPr>
          <p:cNvSpPr/>
          <p:nvPr/>
        </p:nvSpPr>
        <p:spPr>
          <a:xfrm>
            <a:off x="6860880" y="6186190"/>
            <a:ext cx="1295401" cy="494667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Miel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Z###-R08</a:t>
            </a:r>
          </a:p>
        </p:txBody>
      </p:sp>
      <p:cxnSp>
        <p:nvCxnSpPr>
          <p:cNvPr id="49" name="Straight Arrow Connector 84">
            <a:extLst>
              <a:ext uri="{FF2B5EF4-FFF2-40B4-BE49-F238E27FC236}">
                <a16:creationId xmlns:a16="http://schemas.microsoft.com/office/drawing/2014/main" id="{9A2FF741-E417-47F6-B53D-CF57041F16BA}"/>
              </a:ext>
            </a:extLst>
          </p:cNvPr>
          <p:cNvCxnSpPr>
            <a:cxnSpLocks/>
          </p:cNvCxnSpPr>
          <p:nvPr/>
        </p:nvCxnSpPr>
        <p:spPr>
          <a:xfrm>
            <a:off x="8156280" y="6409312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3224F9A-F6A8-6E08-84EA-C2CDFB36DC11}"/>
              </a:ext>
            </a:extLst>
          </p:cNvPr>
          <p:cNvSpPr/>
          <p:nvPr/>
        </p:nvSpPr>
        <p:spPr>
          <a:xfrm>
            <a:off x="4697861" y="3183567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Bill of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3D441EC-B628-CDBD-25A6-8F02D2A0945D}"/>
              </a:ext>
            </a:extLst>
          </p:cNvPr>
          <p:cNvSpPr/>
          <p:nvPr/>
        </p:nvSpPr>
        <p:spPr>
          <a:xfrm>
            <a:off x="3140423" y="4126253"/>
            <a:ext cx="1339822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Routing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cxnSp>
        <p:nvCxnSpPr>
          <p:cNvPr id="81" name="Straight Arrow Connector 127">
            <a:extLst>
              <a:ext uri="{FF2B5EF4-FFF2-40B4-BE49-F238E27FC236}">
                <a16:creationId xmlns:a16="http://schemas.microsoft.com/office/drawing/2014/main" id="{EA577A2F-54B0-5F10-F426-AB6C7B4344C7}"/>
              </a:ext>
            </a:extLst>
          </p:cNvPr>
          <p:cNvCxnSpPr>
            <a:cxnSpLocks/>
            <a:stCxn id="182" idx="2"/>
            <a:endCxn id="78" idx="0"/>
          </p:cNvCxnSpPr>
          <p:nvPr/>
        </p:nvCxnSpPr>
        <p:spPr>
          <a:xfrm>
            <a:off x="3810334" y="3892240"/>
            <a:ext cx="0" cy="234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127">
            <a:extLst>
              <a:ext uri="{FF2B5EF4-FFF2-40B4-BE49-F238E27FC236}">
                <a16:creationId xmlns:a16="http://schemas.microsoft.com/office/drawing/2014/main" id="{E334908E-B783-67E6-8C48-E5107FD5A4B5}"/>
              </a:ext>
            </a:extLst>
          </p:cNvPr>
          <p:cNvCxnSpPr>
            <a:cxnSpLocks/>
            <a:stCxn id="182" idx="3"/>
            <a:endCxn id="50" idx="1"/>
          </p:cNvCxnSpPr>
          <p:nvPr/>
        </p:nvCxnSpPr>
        <p:spPr>
          <a:xfrm flipV="1">
            <a:off x="4480244" y="3536453"/>
            <a:ext cx="217617" cy="2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C8D8C6F-A5E8-B8DB-3D68-3F4729ECD882}"/>
              </a:ext>
            </a:extLst>
          </p:cNvPr>
          <p:cNvSpPr/>
          <p:nvPr/>
        </p:nvSpPr>
        <p:spPr>
          <a:xfrm>
            <a:off x="138656" y="5036621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Work Center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Four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4425B67B-1049-1716-D83C-3A3A3626DD9C}"/>
              </a:ext>
            </a:extLst>
          </p:cNvPr>
          <p:cNvSpPr/>
          <p:nvPr/>
        </p:nvSpPr>
        <p:spPr>
          <a:xfrm>
            <a:off x="3140423" y="3186468"/>
            <a:ext cx="133982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Semi-Finished Product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Céréale </a:t>
            </a:r>
            <a:r>
              <a:rPr lang="en-CA" sz="1100" err="1">
                <a:latin typeface="Segoe UI" panose="020B0502040204020203" pitchFamily="34" charset="0"/>
                <a:cs typeface="Segoe UI" panose="020B0502040204020203" pitchFamily="34" charset="0"/>
              </a:rPr>
              <a:t>Mixée</a:t>
            </a:r>
            <a:endParaRPr lang="en-CA" sz="11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Z###-S01</a:t>
            </a:r>
          </a:p>
        </p:txBody>
      </p:sp>
      <p:cxnSp>
        <p:nvCxnSpPr>
          <p:cNvPr id="184" name="Straight Arrow Connector 127">
            <a:extLst>
              <a:ext uri="{FF2B5EF4-FFF2-40B4-BE49-F238E27FC236}">
                <a16:creationId xmlns:a16="http://schemas.microsoft.com/office/drawing/2014/main" id="{0F0EACE4-DCD7-2AF0-4285-87EF2225EE12}"/>
              </a:ext>
            </a:extLst>
          </p:cNvPr>
          <p:cNvCxnSpPr>
            <a:cxnSpLocks/>
            <a:stCxn id="9" idx="0"/>
            <a:endCxn id="78" idx="2"/>
          </p:cNvCxnSpPr>
          <p:nvPr/>
        </p:nvCxnSpPr>
        <p:spPr>
          <a:xfrm flipV="1">
            <a:off x="3810334" y="4832025"/>
            <a:ext cx="0" cy="223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9" name="Rectangle 228">
            <a:extLst>
              <a:ext uri="{FF2B5EF4-FFF2-40B4-BE49-F238E27FC236}">
                <a16:creationId xmlns:a16="http://schemas.microsoft.com/office/drawing/2014/main" id="{519886F4-1276-BB9E-07AB-11F4F1E87EE4}"/>
              </a:ext>
            </a:extLst>
          </p:cNvPr>
          <p:cNvSpPr/>
          <p:nvPr/>
        </p:nvSpPr>
        <p:spPr>
          <a:xfrm>
            <a:off x="1654511" y="3195521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Bill of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cxnSp>
        <p:nvCxnSpPr>
          <p:cNvPr id="248" name="Connecteur : en angle 247">
            <a:extLst>
              <a:ext uri="{FF2B5EF4-FFF2-40B4-BE49-F238E27FC236}">
                <a16:creationId xmlns:a16="http://schemas.microsoft.com/office/drawing/2014/main" id="{81775F92-017E-DD97-DAC2-2940A573BE56}"/>
              </a:ext>
            </a:extLst>
          </p:cNvPr>
          <p:cNvCxnSpPr>
            <a:cxnSpLocks/>
            <a:stCxn id="229" idx="2"/>
            <a:endCxn id="269" idx="3"/>
          </p:cNvCxnSpPr>
          <p:nvPr/>
        </p:nvCxnSpPr>
        <p:spPr>
          <a:xfrm rot="5400000">
            <a:off x="1579212" y="3756139"/>
            <a:ext cx="577846" cy="86815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Straight Arrow Connector 127">
            <a:extLst>
              <a:ext uri="{FF2B5EF4-FFF2-40B4-BE49-F238E27FC236}">
                <a16:creationId xmlns:a16="http://schemas.microsoft.com/office/drawing/2014/main" id="{941A64AE-F6B7-A043-DA91-593E1D55580D}"/>
              </a:ext>
            </a:extLst>
          </p:cNvPr>
          <p:cNvCxnSpPr>
            <a:cxnSpLocks/>
          </p:cNvCxnSpPr>
          <p:nvPr/>
        </p:nvCxnSpPr>
        <p:spPr>
          <a:xfrm flipH="1" flipV="1">
            <a:off x="786356" y="4812948"/>
            <a:ext cx="1" cy="230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Straight Arrow Connector 127">
            <a:extLst>
              <a:ext uri="{FF2B5EF4-FFF2-40B4-BE49-F238E27FC236}">
                <a16:creationId xmlns:a16="http://schemas.microsoft.com/office/drawing/2014/main" id="{3D070200-F715-82E5-12B9-0F24B9693A44}"/>
              </a:ext>
            </a:extLst>
          </p:cNvPr>
          <p:cNvCxnSpPr>
            <a:cxnSpLocks/>
            <a:stCxn id="2" idx="2"/>
            <a:endCxn id="269" idx="0"/>
          </p:cNvCxnSpPr>
          <p:nvPr/>
        </p:nvCxnSpPr>
        <p:spPr>
          <a:xfrm>
            <a:off x="787739" y="3889339"/>
            <a:ext cx="0" cy="236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9" name="Rectangle 268">
            <a:extLst>
              <a:ext uri="{FF2B5EF4-FFF2-40B4-BE49-F238E27FC236}">
                <a16:creationId xmlns:a16="http://schemas.microsoft.com/office/drawing/2014/main" id="{B6F34BBE-5892-8750-12D4-84A3B97F61A5}"/>
              </a:ext>
            </a:extLst>
          </p:cNvPr>
          <p:cNvSpPr/>
          <p:nvPr/>
        </p:nvSpPr>
        <p:spPr>
          <a:xfrm>
            <a:off x="141420" y="4126253"/>
            <a:ext cx="1292637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Routing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cxnSp>
        <p:nvCxnSpPr>
          <p:cNvPr id="271" name="Connecteur : en angle 270">
            <a:extLst>
              <a:ext uri="{FF2B5EF4-FFF2-40B4-BE49-F238E27FC236}">
                <a16:creationId xmlns:a16="http://schemas.microsoft.com/office/drawing/2014/main" id="{C2FC8E7F-888E-79E7-C212-23964E3BA185}"/>
              </a:ext>
            </a:extLst>
          </p:cNvPr>
          <p:cNvCxnSpPr>
            <a:cxnSpLocks/>
            <a:stCxn id="50" idx="2"/>
            <a:endCxn id="78" idx="3"/>
          </p:cNvCxnSpPr>
          <p:nvPr/>
        </p:nvCxnSpPr>
        <p:spPr>
          <a:xfrm rot="5400000">
            <a:off x="4618004" y="3751581"/>
            <a:ext cx="589800" cy="8653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3" name="Connecteur : en angle 282">
            <a:extLst>
              <a:ext uri="{FF2B5EF4-FFF2-40B4-BE49-F238E27FC236}">
                <a16:creationId xmlns:a16="http://schemas.microsoft.com/office/drawing/2014/main" id="{22C69451-2A03-E88B-6089-C7067BE570DA}"/>
              </a:ext>
            </a:extLst>
          </p:cNvPr>
          <p:cNvCxnSpPr>
            <a:cxnSpLocks/>
            <a:stCxn id="2" idx="0"/>
            <a:endCxn id="26" idx="2"/>
          </p:cNvCxnSpPr>
          <p:nvPr/>
        </p:nvCxnSpPr>
        <p:spPr>
          <a:xfrm rot="5400000" flipH="1" flipV="1">
            <a:off x="1608151" y="643"/>
            <a:ext cx="2362512" cy="4003336"/>
          </a:xfrm>
          <a:prstGeom prst="bentConnector3">
            <a:avLst>
              <a:gd name="adj1" fmla="val 1282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0" name="Straight Arrow Connector 127">
            <a:extLst>
              <a:ext uri="{FF2B5EF4-FFF2-40B4-BE49-F238E27FC236}">
                <a16:creationId xmlns:a16="http://schemas.microsoft.com/office/drawing/2014/main" id="{8FEA9612-AFE4-9300-28F6-08311AF136B1}"/>
              </a:ext>
            </a:extLst>
          </p:cNvPr>
          <p:cNvCxnSpPr>
            <a:cxnSpLocks/>
            <a:stCxn id="182" idx="1"/>
            <a:endCxn id="229" idx="3"/>
          </p:cNvCxnSpPr>
          <p:nvPr/>
        </p:nvCxnSpPr>
        <p:spPr>
          <a:xfrm flipH="1">
            <a:off x="2949912" y="3539354"/>
            <a:ext cx="190511" cy="90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3" name="Straight Arrow Connector 127">
            <a:extLst>
              <a:ext uri="{FF2B5EF4-FFF2-40B4-BE49-F238E27FC236}">
                <a16:creationId xmlns:a16="http://schemas.microsoft.com/office/drawing/2014/main" id="{B2577512-849A-6331-E2C2-70B1A0224ED0}"/>
              </a:ext>
            </a:extLst>
          </p:cNvPr>
          <p:cNvCxnSpPr>
            <a:cxnSpLocks/>
            <a:stCxn id="229" idx="1"/>
            <a:endCxn id="2" idx="3"/>
          </p:cNvCxnSpPr>
          <p:nvPr/>
        </p:nvCxnSpPr>
        <p:spPr>
          <a:xfrm flipH="1" flipV="1">
            <a:off x="1438616" y="3536453"/>
            <a:ext cx="215895" cy="119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necteur : en angle 16">
            <a:extLst>
              <a:ext uri="{FF2B5EF4-FFF2-40B4-BE49-F238E27FC236}">
                <a16:creationId xmlns:a16="http://schemas.microsoft.com/office/drawing/2014/main" id="{27983D80-28B8-8110-C2DD-081CDEBCDD28}"/>
              </a:ext>
            </a:extLst>
          </p:cNvPr>
          <p:cNvCxnSpPr>
            <a:cxnSpLocks/>
            <a:stCxn id="127" idx="1"/>
            <a:endCxn id="50" idx="3"/>
          </p:cNvCxnSpPr>
          <p:nvPr/>
        </p:nvCxnSpPr>
        <p:spPr>
          <a:xfrm rot="10800000">
            <a:off x="5993262" y="3536453"/>
            <a:ext cx="867618" cy="2283392"/>
          </a:xfrm>
          <a:prstGeom prst="bentConnector3">
            <a:avLst>
              <a:gd name="adj1" fmla="val 7921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FC36A4EA-37B7-9231-EB29-9DFF846C471C}"/>
              </a:ext>
            </a:extLst>
          </p:cNvPr>
          <p:cNvCxnSpPr>
            <a:cxnSpLocks/>
            <a:stCxn id="126" idx="1"/>
            <a:endCxn id="50" idx="3"/>
          </p:cNvCxnSpPr>
          <p:nvPr/>
        </p:nvCxnSpPr>
        <p:spPr>
          <a:xfrm rot="10800000">
            <a:off x="5993263" y="3536453"/>
            <a:ext cx="867619" cy="1699856"/>
          </a:xfrm>
          <a:prstGeom prst="bentConnector3">
            <a:avLst>
              <a:gd name="adj1" fmla="val 7921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FE60B55-C4EA-4696-095E-C8B196A0C97A}"/>
              </a:ext>
            </a:extLst>
          </p:cNvPr>
          <p:cNvSpPr/>
          <p:nvPr/>
        </p:nvSpPr>
        <p:spPr>
          <a:xfrm>
            <a:off x="6860880" y="4386622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Raisins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###-R04</a:t>
            </a:r>
          </a:p>
        </p:txBody>
      </p:sp>
      <p:cxnSp>
        <p:nvCxnSpPr>
          <p:cNvPr id="54" name="Straight Arrow Connector 81">
            <a:extLst>
              <a:ext uri="{FF2B5EF4-FFF2-40B4-BE49-F238E27FC236}">
                <a16:creationId xmlns:a16="http://schemas.microsoft.com/office/drawing/2014/main" id="{E27C7248-A01D-C4E7-D62D-DEAF1AFDF697}"/>
              </a:ext>
            </a:extLst>
          </p:cNvPr>
          <p:cNvCxnSpPr>
            <a:cxnSpLocks/>
          </p:cNvCxnSpPr>
          <p:nvPr/>
        </p:nvCxnSpPr>
        <p:spPr>
          <a:xfrm>
            <a:off x="8156280" y="4635429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494F4F80-7939-45A7-7DF0-753DC91FEDE4}"/>
              </a:ext>
            </a:extLst>
          </p:cNvPr>
          <p:cNvSpPr/>
          <p:nvPr/>
        </p:nvSpPr>
        <p:spPr>
          <a:xfrm>
            <a:off x="8556328" y="440274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56" name="Connector: Elbow 54">
            <a:extLst>
              <a:ext uri="{FF2B5EF4-FFF2-40B4-BE49-F238E27FC236}">
                <a16:creationId xmlns:a16="http://schemas.microsoft.com/office/drawing/2014/main" id="{BFCF6CC5-93F5-7D25-2D2D-D51078F23142}"/>
              </a:ext>
            </a:extLst>
          </p:cNvPr>
          <p:cNvCxnSpPr>
            <a:cxnSpLocks/>
          </p:cNvCxnSpPr>
          <p:nvPr/>
        </p:nvCxnSpPr>
        <p:spPr>
          <a:xfrm rot="10800000">
            <a:off x="9851731" y="4057516"/>
            <a:ext cx="400055" cy="1374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4">
            <a:extLst>
              <a:ext uri="{FF2B5EF4-FFF2-40B4-BE49-F238E27FC236}">
                <a16:creationId xmlns:a16="http://schemas.microsoft.com/office/drawing/2014/main" id="{CBF7F3E4-CBC3-D095-30F2-FEC9AB1D46BB}"/>
              </a:ext>
            </a:extLst>
          </p:cNvPr>
          <p:cNvCxnSpPr>
            <a:cxnSpLocks/>
            <a:stCxn id="20" idx="1"/>
            <a:endCxn id="55" idx="3"/>
          </p:cNvCxnSpPr>
          <p:nvPr/>
        </p:nvCxnSpPr>
        <p:spPr>
          <a:xfrm rot="10800000" flipV="1">
            <a:off x="9851729" y="4194991"/>
            <a:ext cx="400056" cy="46218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nector: Elbow 171">
            <a:extLst>
              <a:ext uri="{FF2B5EF4-FFF2-40B4-BE49-F238E27FC236}">
                <a16:creationId xmlns:a16="http://schemas.microsoft.com/office/drawing/2014/main" id="{DA9D1F9F-6D5A-13A9-D2FA-A819CA24AC1A}"/>
              </a:ext>
            </a:extLst>
          </p:cNvPr>
          <p:cNvCxnSpPr>
            <a:cxnSpLocks/>
            <a:stCxn id="53" idx="1"/>
            <a:endCxn id="26" idx="3"/>
          </p:cNvCxnSpPr>
          <p:nvPr/>
        </p:nvCxnSpPr>
        <p:spPr>
          <a:xfrm rot="10800000">
            <a:off x="5438776" y="468170"/>
            <a:ext cx="1422105" cy="4172883"/>
          </a:xfrm>
          <a:prstGeom prst="bentConnector3">
            <a:avLst>
              <a:gd name="adj1" fmla="val 328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Connecteur : en angle 89">
            <a:extLst>
              <a:ext uri="{FF2B5EF4-FFF2-40B4-BE49-F238E27FC236}">
                <a16:creationId xmlns:a16="http://schemas.microsoft.com/office/drawing/2014/main" id="{F1E1897B-EFEC-FBCC-3DB2-B859BF6929E9}"/>
              </a:ext>
            </a:extLst>
          </p:cNvPr>
          <p:cNvCxnSpPr>
            <a:cxnSpLocks/>
            <a:stCxn id="48" idx="1"/>
            <a:endCxn id="50" idx="3"/>
          </p:cNvCxnSpPr>
          <p:nvPr/>
        </p:nvCxnSpPr>
        <p:spPr>
          <a:xfrm rot="10800000">
            <a:off x="5993262" y="3536454"/>
            <a:ext cx="867618" cy="2897071"/>
          </a:xfrm>
          <a:prstGeom prst="bentConnector3">
            <a:avLst>
              <a:gd name="adj1" fmla="val 7921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ZoneTexte 94">
            <a:extLst>
              <a:ext uri="{FF2B5EF4-FFF2-40B4-BE49-F238E27FC236}">
                <a16:creationId xmlns:a16="http://schemas.microsoft.com/office/drawing/2014/main" id="{07F0427A-F174-42CB-3B08-597FECE97B9E}"/>
              </a:ext>
            </a:extLst>
          </p:cNvPr>
          <p:cNvSpPr txBox="1"/>
          <p:nvPr/>
        </p:nvSpPr>
        <p:spPr>
          <a:xfrm>
            <a:off x="880639" y="5966066"/>
            <a:ext cx="44172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Voici la </a:t>
            </a:r>
            <a:r>
              <a:rPr lang="en-CA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simplification du modèle </a:t>
            </a:r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pour la nouvelle game de produit Muesli Crunchy</a:t>
            </a:r>
          </a:p>
        </p:txBody>
      </p:sp>
    </p:spTree>
    <p:extLst>
      <p:ext uri="{BB962C8B-B14F-4D97-AF65-F5344CB8AC3E}">
        <p14:creationId xmlns:p14="http://schemas.microsoft.com/office/powerpoint/2010/main" val="71363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1A28-CEAD-D9A3-62EE-C0E111CCF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8060A4-DBDA-1B5D-A8A2-58F8F8033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786747"/>
            <a:ext cx="12191999" cy="1284506"/>
          </a:xfrm>
        </p:spPr>
        <p:txBody>
          <a:bodyPr>
            <a:normAutofit/>
          </a:bodyPr>
          <a:lstStyle/>
          <a:p>
            <a:r>
              <a:rPr lang="en-CA" sz="66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Annexe</a:t>
            </a:r>
          </a:p>
        </p:txBody>
      </p:sp>
    </p:spTree>
    <p:extLst>
      <p:ext uri="{BB962C8B-B14F-4D97-AF65-F5344CB8AC3E}">
        <p14:creationId xmlns:p14="http://schemas.microsoft.com/office/powerpoint/2010/main" val="227185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4792E2-3944-5C00-9355-9CE24459E2EA}"/>
              </a:ext>
            </a:extLst>
          </p:cNvPr>
          <p:cNvSpPr/>
          <p:nvPr/>
        </p:nvSpPr>
        <p:spPr>
          <a:xfrm>
            <a:off x="6860885" y="805171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Large plastic bag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###-P02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F4E310-5C6F-3CF3-7262-05FDDA7C9A35}"/>
              </a:ext>
            </a:extLst>
          </p:cNvPr>
          <p:cNvSpPr/>
          <p:nvPr/>
        </p:nvSpPr>
        <p:spPr>
          <a:xfrm>
            <a:off x="6860885" y="214360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Large box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###-P01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5E5AEC-087F-862B-4095-DA0663C2893B}"/>
              </a:ext>
            </a:extLst>
          </p:cNvPr>
          <p:cNvSpPr/>
          <p:nvPr/>
        </p:nvSpPr>
        <p:spPr>
          <a:xfrm>
            <a:off x="6860882" y="139315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Small box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###-P03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678507-44D9-5588-FF3C-96A686A8EE55}"/>
              </a:ext>
            </a:extLst>
          </p:cNvPr>
          <p:cNvSpPr/>
          <p:nvPr/>
        </p:nvSpPr>
        <p:spPr>
          <a:xfrm>
            <a:off x="6860882" y="1980396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Small plastic bag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###-P04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4D809-8865-D919-E96A-C4EA64C278F0}"/>
              </a:ext>
            </a:extLst>
          </p:cNvPr>
          <p:cNvSpPr/>
          <p:nvPr/>
        </p:nvSpPr>
        <p:spPr>
          <a:xfrm>
            <a:off x="8556335" y="805171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0D15ED-C47B-2174-5B15-33349FD11653}"/>
              </a:ext>
            </a:extLst>
          </p:cNvPr>
          <p:cNvSpPr/>
          <p:nvPr/>
        </p:nvSpPr>
        <p:spPr>
          <a:xfrm>
            <a:off x="8556335" y="214360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C5E96E-DEFC-C998-28C5-16C1559E1961}"/>
              </a:ext>
            </a:extLst>
          </p:cNvPr>
          <p:cNvSpPr/>
          <p:nvPr/>
        </p:nvSpPr>
        <p:spPr>
          <a:xfrm>
            <a:off x="8556332" y="139315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5BC393-D552-778B-F2D2-936801483B14}"/>
              </a:ext>
            </a:extLst>
          </p:cNvPr>
          <p:cNvSpPr/>
          <p:nvPr/>
        </p:nvSpPr>
        <p:spPr>
          <a:xfrm>
            <a:off x="8556332" y="1980396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AD264-4A3E-D8B6-501C-550725F6D5A7}"/>
              </a:ext>
            </a:extLst>
          </p:cNvPr>
          <p:cNvSpPr/>
          <p:nvPr/>
        </p:nvSpPr>
        <p:spPr>
          <a:xfrm>
            <a:off x="6860890" y="262058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Nut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8BC453-E6B4-41E6-01BC-26E5D7CF1A5B}"/>
              </a:ext>
            </a:extLst>
          </p:cNvPr>
          <p:cNvSpPr/>
          <p:nvPr/>
        </p:nvSpPr>
        <p:spPr>
          <a:xfrm>
            <a:off x="10251785" y="1011302"/>
            <a:ext cx="1295401" cy="705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Vendor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Continental printing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V02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F24AE4-C543-5A7F-B51C-164D1FF99348}"/>
              </a:ext>
            </a:extLst>
          </p:cNvPr>
          <p:cNvSpPr/>
          <p:nvPr/>
        </p:nvSpPr>
        <p:spPr>
          <a:xfrm>
            <a:off x="6860882" y="3207827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Blueberries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A7F11E-B853-46C7-0A7F-6D71299069CC}"/>
              </a:ext>
            </a:extLst>
          </p:cNvPr>
          <p:cNvSpPr/>
          <p:nvPr/>
        </p:nvSpPr>
        <p:spPr>
          <a:xfrm>
            <a:off x="8556331" y="3207827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EC4647-AA64-0E46-6C76-46E2AEDEAA32}"/>
              </a:ext>
            </a:extLst>
          </p:cNvPr>
          <p:cNvSpPr/>
          <p:nvPr/>
        </p:nvSpPr>
        <p:spPr>
          <a:xfrm>
            <a:off x="10251785" y="3842106"/>
            <a:ext cx="1295401" cy="7057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Vendor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Food broker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V01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F47D14-58D6-58E7-15AB-BD2E54D0BA39}"/>
              </a:ext>
            </a:extLst>
          </p:cNvPr>
          <p:cNvSpPr/>
          <p:nvPr/>
        </p:nvSpPr>
        <p:spPr>
          <a:xfrm>
            <a:off x="8556338" y="2620583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5C437A-A154-A5C8-DE20-E5BA97A60A97}"/>
              </a:ext>
            </a:extLst>
          </p:cNvPr>
          <p:cNvSpPr/>
          <p:nvPr/>
        </p:nvSpPr>
        <p:spPr>
          <a:xfrm>
            <a:off x="2441566" y="1911724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Work Center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Usine de production 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3E04DA-9A83-7336-9DD3-47EDC82C8F07}"/>
              </a:ext>
            </a:extLst>
          </p:cNvPr>
          <p:cNvSpPr/>
          <p:nvPr/>
        </p:nvSpPr>
        <p:spPr>
          <a:xfrm>
            <a:off x="4143374" y="115283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Bill of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3AF82C-6D7D-F641-14BD-5C4E48F9271A}"/>
              </a:ext>
            </a:extLst>
          </p:cNvPr>
          <p:cNvSpPr/>
          <p:nvPr/>
        </p:nvSpPr>
        <p:spPr>
          <a:xfrm>
            <a:off x="2447923" y="115283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Finished Product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97A91B-9D99-1046-69D7-C32CA46FF4DD}"/>
              </a:ext>
            </a:extLst>
          </p:cNvPr>
          <p:cNvSpPr/>
          <p:nvPr/>
        </p:nvSpPr>
        <p:spPr>
          <a:xfrm>
            <a:off x="2447922" y="963008"/>
            <a:ext cx="1295401" cy="705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Routing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B3C3D5-0309-1CC3-878A-1E3385F7F6C3}"/>
              </a:ext>
            </a:extLst>
          </p:cNvPr>
          <p:cNvSpPr/>
          <p:nvPr/>
        </p:nvSpPr>
        <p:spPr>
          <a:xfrm>
            <a:off x="217326" y="1011301"/>
            <a:ext cx="1301755" cy="705772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Price List</a:t>
            </a:r>
          </a:p>
        </p:txBody>
      </p:sp>
      <p:cxnSp>
        <p:nvCxnSpPr>
          <p:cNvPr id="33" name="Connector: Elbow 34">
            <a:extLst>
              <a:ext uri="{FF2B5EF4-FFF2-40B4-BE49-F238E27FC236}">
                <a16:creationId xmlns:a16="http://schemas.microsoft.com/office/drawing/2014/main" id="{BFDAB8CF-C297-87EE-4E11-9A2CE12562CB}"/>
              </a:ext>
            </a:extLst>
          </p:cNvPr>
          <p:cNvCxnSpPr>
            <a:cxnSpLocks/>
            <a:stCxn id="16" idx="1"/>
            <a:endCxn id="11" idx="3"/>
          </p:cNvCxnSpPr>
          <p:nvPr/>
        </p:nvCxnSpPr>
        <p:spPr>
          <a:xfrm rot="10800000">
            <a:off x="9851737" y="468790"/>
            <a:ext cx="400049" cy="8953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40">
            <a:extLst>
              <a:ext uri="{FF2B5EF4-FFF2-40B4-BE49-F238E27FC236}">
                <a16:creationId xmlns:a16="http://schemas.microsoft.com/office/drawing/2014/main" id="{6D33E07F-9730-3BF9-7E3A-23F1A98E0795}"/>
              </a:ext>
            </a:extLst>
          </p:cNvPr>
          <p:cNvCxnSpPr>
            <a:cxnSpLocks/>
            <a:stCxn id="16" idx="1"/>
            <a:endCxn id="10" idx="3"/>
          </p:cNvCxnSpPr>
          <p:nvPr/>
        </p:nvCxnSpPr>
        <p:spPr>
          <a:xfrm rot="10800000">
            <a:off x="9851737" y="1059602"/>
            <a:ext cx="400049" cy="30458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43">
            <a:extLst>
              <a:ext uri="{FF2B5EF4-FFF2-40B4-BE49-F238E27FC236}">
                <a16:creationId xmlns:a16="http://schemas.microsoft.com/office/drawing/2014/main" id="{1147F875-2CFA-2035-071C-E1A19574F27A}"/>
              </a:ext>
            </a:extLst>
          </p:cNvPr>
          <p:cNvCxnSpPr>
            <a:cxnSpLocks/>
            <a:stCxn id="16" idx="1"/>
            <a:endCxn id="12" idx="3"/>
          </p:cNvCxnSpPr>
          <p:nvPr/>
        </p:nvCxnSpPr>
        <p:spPr>
          <a:xfrm rot="10800000" flipV="1">
            <a:off x="9851733" y="1364187"/>
            <a:ext cx="400052" cy="283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46">
            <a:extLst>
              <a:ext uri="{FF2B5EF4-FFF2-40B4-BE49-F238E27FC236}">
                <a16:creationId xmlns:a16="http://schemas.microsoft.com/office/drawing/2014/main" id="{47C7B53B-BAD6-4AE8-108B-E0CD903F6880}"/>
              </a:ext>
            </a:extLst>
          </p:cNvPr>
          <p:cNvCxnSpPr>
            <a:cxnSpLocks/>
            <a:stCxn id="16" idx="1"/>
            <a:endCxn id="13" idx="3"/>
          </p:cNvCxnSpPr>
          <p:nvPr/>
        </p:nvCxnSpPr>
        <p:spPr>
          <a:xfrm rot="10800000" flipV="1">
            <a:off x="9851733" y="1364188"/>
            <a:ext cx="400052" cy="870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50">
            <a:extLst>
              <a:ext uri="{FF2B5EF4-FFF2-40B4-BE49-F238E27FC236}">
                <a16:creationId xmlns:a16="http://schemas.microsoft.com/office/drawing/2014/main" id="{96E0EB2A-52E3-20E1-44FB-2F52D2653F7D}"/>
              </a:ext>
            </a:extLst>
          </p:cNvPr>
          <p:cNvCxnSpPr>
            <a:cxnSpLocks/>
            <a:stCxn id="20" idx="1"/>
            <a:endCxn id="21" idx="3"/>
          </p:cNvCxnSpPr>
          <p:nvPr/>
        </p:nvCxnSpPr>
        <p:spPr>
          <a:xfrm rot="10800000">
            <a:off x="9851739" y="2875014"/>
            <a:ext cx="400046" cy="131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54">
            <a:extLst>
              <a:ext uri="{FF2B5EF4-FFF2-40B4-BE49-F238E27FC236}">
                <a16:creationId xmlns:a16="http://schemas.microsoft.com/office/drawing/2014/main" id="{C696FD2F-4177-6FAE-EF19-9A6AEEB6023E}"/>
              </a:ext>
            </a:extLst>
          </p:cNvPr>
          <p:cNvCxnSpPr>
            <a:cxnSpLocks/>
            <a:stCxn id="20" idx="1"/>
            <a:endCxn id="19" idx="3"/>
          </p:cNvCxnSpPr>
          <p:nvPr/>
        </p:nvCxnSpPr>
        <p:spPr>
          <a:xfrm rot="10800000">
            <a:off x="9851733" y="3462258"/>
            <a:ext cx="400053" cy="7327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63">
            <a:extLst>
              <a:ext uri="{FF2B5EF4-FFF2-40B4-BE49-F238E27FC236}">
                <a16:creationId xmlns:a16="http://schemas.microsoft.com/office/drawing/2014/main" id="{E3319602-3714-BCEF-95B5-279C31557F62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8156286" y="468790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66">
            <a:extLst>
              <a:ext uri="{FF2B5EF4-FFF2-40B4-BE49-F238E27FC236}">
                <a16:creationId xmlns:a16="http://schemas.microsoft.com/office/drawing/2014/main" id="{BEE86029-FA88-3C78-F2C2-2F69895E2B76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8156286" y="1059601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69">
            <a:extLst>
              <a:ext uri="{FF2B5EF4-FFF2-40B4-BE49-F238E27FC236}">
                <a16:creationId xmlns:a16="http://schemas.microsoft.com/office/drawing/2014/main" id="{9EFE56BF-66DF-40E8-D383-C2508F0EB3D8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8156283" y="1647583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73">
            <a:extLst>
              <a:ext uri="{FF2B5EF4-FFF2-40B4-BE49-F238E27FC236}">
                <a16:creationId xmlns:a16="http://schemas.microsoft.com/office/drawing/2014/main" id="{F87DEAF6-16C9-2BDB-D8B6-C3B926111136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8156283" y="2234826"/>
            <a:ext cx="4000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81">
            <a:extLst>
              <a:ext uri="{FF2B5EF4-FFF2-40B4-BE49-F238E27FC236}">
                <a16:creationId xmlns:a16="http://schemas.microsoft.com/office/drawing/2014/main" id="{43D2A59A-A758-C21D-DDF5-64CBE182DD42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>
            <a:off x="8156291" y="2875013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84">
            <a:extLst>
              <a:ext uri="{FF2B5EF4-FFF2-40B4-BE49-F238E27FC236}">
                <a16:creationId xmlns:a16="http://schemas.microsoft.com/office/drawing/2014/main" id="{9FE72F20-9FCE-FAA8-BFC4-2D54A6874312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8156283" y="3462257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127">
            <a:extLst>
              <a:ext uri="{FF2B5EF4-FFF2-40B4-BE49-F238E27FC236}">
                <a16:creationId xmlns:a16="http://schemas.microsoft.com/office/drawing/2014/main" id="{631D4CE3-A2BC-F123-BD6E-0E6C06B45052}"/>
              </a:ext>
            </a:extLst>
          </p:cNvPr>
          <p:cNvCxnSpPr>
            <a:cxnSpLocks/>
            <a:stCxn id="25" idx="0"/>
            <a:endCxn id="28" idx="2"/>
          </p:cNvCxnSpPr>
          <p:nvPr/>
        </p:nvCxnSpPr>
        <p:spPr>
          <a:xfrm flipV="1">
            <a:off x="3089267" y="1668780"/>
            <a:ext cx="6356" cy="242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132">
            <a:extLst>
              <a:ext uri="{FF2B5EF4-FFF2-40B4-BE49-F238E27FC236}">
                <a16:creationId xmlns:a16="http://schemas.microsoft.com/office/drawing/2014/main" id="{6D75E518-CF9E-9559-F8B5-17E60CDDAD3E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flipH="1">
            <a:off x="3095623" y="821055"/>
            <a:ext cx="1" cy="141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137">
            <a:extLst>
              <a:ext uri="{FF2B5EF4-FFF2-40B4-BE49-F238E27FC236}">
                <a16:creationId xmlns:a16="http://schemas.microsoft.com/office/drawing/2014/main" id="{21FD1654-D16E-C1E0-BCEE-0C9E49FB9021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3743324" y="468169"/>
            <a:ext cx="400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141">
            <a:extLst>
              <a:ext uri="{FF2B5EF4-FFF2-40B4-BE49-F238E27FC236}">
                <a16:creationId xmlns:a16="http://schemas.microsoft.com/office/drawing/2014/main" id="{B47F3171-C4C5-3E38-55A5-B54E8319DEFD}"/>
              </a:ext>
            </a:extLst>
          </p:cNvPr>
          <p:cNvCxnSpPr>
            <a:cxnSpLocks/>
            <a:stCxn id="27" idx="1"/>
            <a:endCxn id="32" idx="3"/>
          </p:cNvCxnSpPr>
          <p:nvPr/>
        </p:nvCxnSpPr>
        <p:spPr>
          <a:xfrm rot="10800000" flipV="1">
            <a:off x="1519081" y="468169"/>
            <a:ext cx="928842" cy="8960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171">
            <a:extLst>
              <a:ext uri="{FF2B5EF4-FFF2-40B4-BE49-F238E27FC236}">
                <a16:creationId xmlns:a16="http://schemas.microsoft.com/office/drawing/2014/main" id="{868684EC-21E3-A3ED-E590-D81B3653E574}"/>
              </a:ext>
            </a:extLst>
          </p:cNvPr>
          <p:cNvCxnSpPr>
            <a:cxnSpLocks/>
            <a:stCxn id="4" idx="1"/>
            <a:endCxn id="26" idx="3"/>
          </p:cNvCxnSpPr>
          <p:nvPr/>
        </p:nvCxnSpPr>
        <p:spPr>
          <a:xfrm rot="10800000">
            <a:off x="5438775" y="468169"/>
            <a:ext cx="1422110" cy="5914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174">
            <a:extLst>
              <a:ext uri="{FF2B5EF4-FFF2-40B4-BE49-F238E27FC236}">
                <a16:creationId xmlns:a16="http://schemas.microsoft.com/office/drawing/2014/main" id="{769B3C79-37B9-8F21-B126-0B25353858D9}"/>
              </a:ext>
            </a:extLst>
          </p:cNvPr>
          <p:cNvCxnSpPr>
            <a:cxnSpLocks/>
            <a:stCxn id="5" idx="1"/>
            <a:endCxn id="26" idx="3"/>
          </p:cNvCxnSpPr>
          <p:nvPr/>
        </p:nvCxnSpPr>
        <p:spPr>
          <a:xfrm flipH="1" flipV="1">
            <a:off x="5438775" y="468169"/>
            <a:ext cx="1422110" cy="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7AE4719-A52D-CB4C-3DD9-583792B18024}"/>
              </a:ext>
            </a:extLst>
          </p:cNvPr>
          <p:cNvSpPr/>
          <p:nvPr/>
        </p:nvSpPr>
        <p:spPr>
          <a:xfrm>
            <a:off x="2260495" y="35108"/>
            <a:ext cx="3327396" cy="176276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CA" sz="105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Production Version</a:t>
            </a:r>
          </a:p>
        </p:txBody>
      </p:sp>
      <p:cxnSp>
        <p:nvCxnSpPr>
          <p:cNvPr id="83" name="Connector: Elbow 171">
            <a:extLst>
              <a:ext uri="{FF2B5EF4-FFF2-40B4-BE49-F238E27FC236}">
                <a16:creationId xmlns:a16="http://schemas.microsoft.com/office/drawing/2014/main" id="{C8F17D9B-9F8C-48B3-F3BE-69B0AD5A1ABA}"/>
              </a:ext>
            </a:extLst>
          </p:cNvPr>
          <p:cNvCxnSpPr>
            <a:cxnSpLocks/>
            <a:stCxn id="6" idx="1"/>
            <a:endCxn id="26" idx="3"/>
          </p:cNvCxnSpPr>
          <p:nvPr/>
        </p:nvCxnSpPr>
        <p:spPr>
          <a:xfrm rot="10800000">
            <a:off x="5438776" y="468169"/>
            <a:ext cx="1422107" cy="11794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Elbow 171">
            <a:extLst>
              <a:ext uri="{FF2B5EF4-FFF2-40B4-BE49-F238E27FC236}">
                <a16:creationId xmlns:a16="http://schemas.microsoft.com/office/drawing/2014/main" id="{07BFB5A1-8F08-862E-7B95-6572A829B7AB}"/>
              </a:ext>
            </a:extLst>
          </p:cNvPr>
          <p:cNvCxnSpPr>
            <a:cxnSpLocks/>
            <a:stCxn id="7" idx="1"/>
            <a:endCxn id="26" idx="3"/>
          </p:cNvCxnSpPr>
          <p:nvPr/>
        </p:nvCxnSpPr>
        <p:spPr>
          <a:xfrm rot="10800000">
            <a:off x="5438776" y="468170"/>
            <a:ext cx="1422107" cy="17666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Connector: Elbow 171">
            <a:extLst>
              <a:ext uri="{FF2B5EF4-FFF2-40B4-BE49-F238E27FC236}">
                <a16:creationId xmlns:a16="http://schemas.microsoft.com/office/drawing/2014/main" id="{44A8989D-895D-9C18-F5FD-EC91E25C6453}"/>
              </a:ext>
            </a:extLst>
          </p:cNvPr>
          <p:cNvCxnSpPr>
            <a:cxnSpLocks/>
            <a:stCxn id="14" idx="1"/>
            <a:endCxn id="26" idx="3"/>
          </p:cNvCxnSpPr>
          <p:nvPr/>
        </p:nvCxnSpPr>
        <p:spPr>
          <a:xfrm rot="10800000">
            <a:off x="5438776" y="468169"/>
            <a:ext cx="1422115" cy="240684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171">
            <a:extLst>
              <a:ext uri="{FF2B5EF4-FFF2-40B4-BE49-F238E27FC236}">
                <a16:creationId xmlns:a16="http://schemas.microsoft.com/office/drawing/2014/main" id="{2C70529A-7F29-E38D-786C-B682CE5D3409}"/>
              </a:ext>
            </a:extLst>
          </p:cNvPr>
          <p:cNvCxnSpPr>
            <a:cxnSpLocks/>
            <a:stCxn id="18" idx="1"/>
            <a:endCxn id="26" idx="3"/>
          </p:cNvCxnSpPr>
          <p:nvPr/>
        </p:nvCxnSpPr>
        <p:spPr>
          <a:xfrm rot="10800000">
            <a:off x="5438776" y="468169"/>
            <a:ext cx="1422107" cy="299408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D2048E2C-AC62-C9F5-8F4C-DD45E1619FD2}"/>
              </a:ext>
            </a:extLst>
          </p:cNvPr>
          <p:cNvSpPr/>
          <p:nvPr/>
        </p:nvSpPr>
        <p:spPr>
          <a:xfrm>
            <a:off x="6860881" y="3803086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Strawberries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###-R03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A486BA6-EBFD-4942-2EA8-FE3A021194F9}"/>
              </a:ext>
            </a:extLst>
          </p:cNvPr>
          <p:cNvSpPr/>
          <p:nvPr/>
        </p:nvSpPr>
        <p:spPr>
          <a:xfrm>
            <a:off x="6860880" y="4386622"/>
            <a:ext cx="1295401" cy="508859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Raisins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03CC4C8-DEC9-535D-D8CB-2EEAE514D74F}"/>
              </a:ext>
            </a:extLst>
          </p:cNvPr>
          <p:cNvSpPr/>
          <p:nvPr/>
        </p:nvSpPr>
        <p:spPr>
          <a:xfrm>
            <a:off x="8556329" y="4386622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6D7AB68-EA72-B09C-D338-061FFCA40E54}"/>
              </a:ext>
            </a:extLst>
          </p:cNvPr>
          <p:cNvSpPr/>
          <p:nvPr/>
        </p:nvSpPr>
        <p:spPr>
          <a:xfrm>
            <a:off x="8556329" y="3803086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102" name="Straight Arrow Connector 81">
            <a:extLst>
              <a:ext uri="{FF2B5EF4-FFF2-40B4-BE49-F238E27FC236}">
                <a16:creationId xmlns:a16="http://schemas.microsoft.com/office/drawing/2014/main" id="{0813EA43-6223-DA43-B9E9-8C330F3FD33A}"/>
              </a:ext>
            </a:extLst>
          </p:cNvPr>
          <p:cNvCxnSpPr>
            <a:cxnSpLocks/>
            <a:stCxn id="98" idx="3"/>
            <a:endCxn id="101" idx="1"/>
          </p:cNvCxnSpPr>
          <p:nvPr/>
        </p:nvCxnSpPr>
        <p:spPr>
          <a:xfrm>
            <a:off x="8156282" y="4057516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84">
            <a:extLst>
              <a:ext uri="{FF2B5EF4-FFF2-40B4-BE49-F238E27FC236}">
                <a16:creationId xmlns:a16="http://schemas.microsoft.com/office/drawing/2014/main" id="{DDD2E0F8-5C3B-9BCC-CCC9-A32D584E057B}"/>
              </a:ext>
            </a:extLst>
          </p:cNvPr>
          <p:cNvCxnSpPr>
            <a:cxnSpLocks/>
            <a:stCxn id="99" idx="3"/>
            <a:endCxn id="100" idx="1"/>
          </p:cNvCxnSpPr>
          <p:nvPr/>
        </p:nvCxnSpPr>
        <p:spPr>
          <a:xfrm>
            <a:off x="8156281" y="4641052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14CE35A-94D8-6574-EDA4-D542837AF055}"/>
              </a:ext>
            </a:extLst>
          </p:cNvPr>
          <p:cNvSpPr/>
          <p:nvPr/>
        </p:nvSpPr>
        <p:spPr>
          <a:xfrm>
            <a:off x="6860881" y="4981879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Wheat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###-R05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C9FE6C-796B-E47B-BC75-27B27DA03EBE}"/>
              </a:ext>
            </a:extLst>
          </p:cNvPr>
          <p:cNvSpPr/>
          <p:nvPr/>
        </p:nvSpPr>
        <p:spPr>
          <a:xfrm>
            <a:off x="6860880" y="5565415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Oats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###-R06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895943E-D18F-C7AA-48A3-50A2552E7F59}"/>
              </a:ext>
            </a:extLst>
          </p:cNvPr>
          <p:cNvSpPr/>
          <p:nvPr/>
        </p:nvSpPr>
        <p:spPr>
          <a:xfrm>
            <a:off x="8556329" y="5565415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6A0360A-B373-F489-C611-F8AC3A0065AF}"/>
              </a:ext>
            </a:extLst>
          </p:cNvPr>
          <p:cNvSpPr/>
          <p:nvPr/>
        </p:nvSpPr>
        <p:spPr>
          <a:xfrm>
            <a:off x="8556329" y="4981879"/>
            <a:ext cx="1295401" cy="50885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130" name="Straight Arrow Connector 81">
            <a:extLst>
              <a:ext uri="{FF2B5EF4-FFF2-40B4-BE49-F238E27FC236}">
                <a16:creationId xmlns:a16="http://schemas.microsoft.com/office/drawing/2014/main" id="{D38204E1-F33C-BE89-AD65-01DED7BDFB16}"/>
              </a:ext>
            </a:extLst>
          </p:cNvPr>
          <p:cNvCxnSpPr>
            <a:cxnSpLocks/>
            <a:stCxn id="126" idx="3"/>
            <a:endCxn id="129" idx="1"/>
          </p:cNvCxnSpPr>
          <p:nvPr/>
        </p:nvCxnSpPr>
        <p:spPr>
          <a:xfrm>
            <a:off x="8156282" y="5236309"/>
            <a:ext cx="400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84">
            <a:extLst>
              <a:ext uri="{FF2B5EF4-FFF2-40B4-BE49-F238E27FC236}">
                <a16:creationId xmlns:a16="http://schemas.microsoft.com/office/drawing/2014/main" id="{3E704F70-8D00-8459-0EF3-AC8FA87B528F}"/>
              </a:ext>
            </a:extLst>
          </p:cNvPr>
          <p:cNvCxnSpPr>
            <a:cxnSpLocks/>
            <a:stCxn id="127" idx="3"/>
            <a:endCxn id="128" idx="1"/>
          </p:cNvCxnSpPr>
          <p:nvPr/>
        </p:nvCxnSpPr>
        <p:spPr>
          <a:xfrm>
            <a:off x="8156281" y="5819845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Connector: Elbow 54">
            <a:extLst>
              <a:ext uri="{FF2B5EF4-FFF2-40B4-BE49-F238E27FC236}">
                <a16:creationId xmlns:a16="http://schemas.microsoft.com/office/drawing/2014/main" id="{A42EAA76-C788-BF30-CCD3-C3F852AC22E4}"/>
              </a:ext>
            </a:extLst>
          </p:cNvPr>
          <p:cNvCxnSpPr>
            <a:cxnSpLocks/>
            <a:stCxn id="20" idx="1"/>
            <a:endCxn id="101" idx="3"/>
          </p:cNvCxnSpPr>
          <p:nvPr/>
        </p:nvCxnSpPr>
        <p:spPr>
          <a:xfrm rot="10800000">
            <a:off x="9851731" y="4057516"/>
            <a:ext cx="400055" cy="1374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Connector: Elbow 54">
            <a:extLst>
              <a:ext uri="{FF2B5EF4-FFF2-40B4-BE49-F238E27FC236}">
                <a16:creationId xmlns:a16="http://schemas.microsoft.com/office/drawing/2014/main" id="{6D77D690-9F34-EDC1-28C1-7F661612A05B}"/>
              </a:ext>
            </a:extLst>
          </p:cNvPr>
          <p:cNvCxnSpPr>
            <a:cxnSpLocks/>
            <a:stCxn id="20" idx="1"/>
            <a:endCxn id="100" idx="3"/>
          </p:cNvCxnSpPr>
          <p:nvPr/>
        </p:nvCxnSpPr>
        <p:spPr>
          <a:xfrm rot="10800000" flipV="1">
            <a:off x="9851731" y="4194992"/>
            <a:ext cx="400055" cy="4460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Connector: Elbow 54">
            <a:extLst>
              <a:ext uri="{FF2B5EF4-FFF2-40B4-BE49-F238E27FC236}">
                <a16:creationId xmlns:a16="http://schemas.microsoft.com/office/drawing/2014/main" id="{922EDCC4-B619-22D2-89DD-B0F718AAAF7A}"/>
              </a:ext>
            </a:extLst>
          </p:cNvPr>
          <p:cNvCxnSpPr>
            <a:cxnSpLocks/>
            <a:stCxn id="20" idx="1"/>
            <a:endCxn id="129" idx="3"/>
          </p:cNvCxnSpPr>
          <p:nvPr/>
        </p:nvCxnSpPr>
        <p:spPr>
          <a:xfrm rot="10800000" flipV="1">
            <a:off x="9851731" y="4194991"/>
            <a:ext cx="400055" cy="10413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Connector: Elbow 54">
            <a:extLst>
              <a:ext uri="{FF2B5EF4-FFF2-40B4-BE49-F238E27FC236}">
                <a16:creationId xmlns:a16="http://schemas.microsoft.com/office/drawing/2014/main" id="{92BA42B3-6ACA-4595-FAF7-9C5FFF88DDE8}"/>
              </a:ext>
            </a:extLst>
          </p:cNvPr>
          <p:cNvCxnSpPr>
            <a:cxnSpLocks/>
            <a:stCxn id="20" idx="1"/>
            <a:endCxn id="128" idx="3"/>
          </p:cNvCxnSpPr>
          <p:nvPr/>
        </p:nvCxnSpPr>
        <p:spPr>
          <a:xfrm rot="10800000" flipV="1">
            <a:off x="9851731" y="4194991"/>
            <a:ext cx="400055" cy="16248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CAA58E80-786A-4374-3E38-7598EB70A29A}"/>
              </a:ext>
            </a:extLst>
          </p:cNvPr>
          <p:cNvSpPr/>
          <p:nvPr/>
        </p:nvSpPr>
        <p:spPr>
          <a:xfrm>
            <a:off x="11147140" y="3128969"/>
            <a:ext cx="830156" cy="44650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800">
                <a:latin typeface="Segoe UI" panose="020B0502040204020203" pitchFamily="34" charset="0"/>
                <a:cs typeface="Segoe UI" panose="020B0502040204020203" pitchFamily="34" charset="0"/>
              </a:rPr>
              <a:t>Already Created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68066DBA-8C0D-6061-123D-DA783F7B291C}"/>
              </a:ext>
            </a:extLst>
          </p:cNvPr>
          <p:cNvSpPr/>
          <p:nvPr/>
        </p:nvSpPr>
        <p:spPr>
          <a:xfrm>
            <a:off x="11147140" y="2569392"/>
            <a:ext cx="830156" cy="446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800">
                <a:latin typeface="Segoe UI" panose="020B0502040204020203" pitchFamily="34" charset="0"/>
                <a:cs typeface="Segoe UI" panose="020B0502040204020203" pitchFamily="34" charset="0"/>
              </a:rPr>
              <a:t>Must be created for every product</a:t>
            </a: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7515E9A-2755-4B74-F052-3C87D7F8BE7A}"/>
              </a:ext>
            </a:extLst>
          </p:cNvPr>
          <p:cNvSpPr/>
          <p:nvPr/>
        </p:nvSpPr>
        <p:spPr>
          <a:xfrm>
            <a:off x="10251779" y="3135316"/>
            <a:ext cx="830156" cy="437543"/>
          </a:xfrm>
          <a:prstGeom prst="rect">
            <a:avLst/>
          </a:prstGeom>
          <a:solidFill>
            <a:srgbClr val="FFF2CC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800">
                <a:latin typeface="Segoe UI" panose="020B0502040204020203" pitchFamily="34" charset="0"/>
                <a:cs typeface="Segoe UI" panose="020B0502040204020203" pitchFamily="34" charset="0"/>
              </a:rPr>
              <a:t>Must be modified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8282D37-7C8F-69D6-815C-5F1D3D8CF1BB}"/>
              </a:ext>
            </a:extLst>
          </p:cNvPr>
          <p:cNvSpPr/>
          <p:nvPr/>
        </p:nvSpPr>
        <p:spPr>
          <a:xfrm>
            <a:off x="10251780" y="2572470"/>
            <a:ext cx="830156" cy="450488"/>
          </a:xfrm>
          <a:prstGeom prst="rect">
            <a:avLst/>
          </a:prstGeom>
          <a:solidFill>
            <a:srgbClr val="FF0000">
              <a:alpha val="10196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800">
                <a:latin typeface="Segoe UI" panose="020B0502040204020203" pitchFamily="34" charset="0"/>
                <a:cs typeface="Segoe UI" panose="020B0502040204020203" pitchFamily="34" charset="0"/>
              </a:rPr>
              <a:t>Must be created once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B2D9C55-46B5-FAE8-5E81-6DA2B8202727}"/>
              </a:ext>
            </a:extLst>
          </p:cNvPr>
          <p:cNvSpPr/>
          <p:nvPr/>
        </p:nvSpPr>
        <p:spPr>
          <a:xfrm>
            <a:off x="10251779" y="1978975"/>
            <a:ext cx="1695456" cy="5117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Note : </a:t>
            </a:r>
            <a:b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050">
                <a:latin typeface="Segoe UI" panose="020B0502040204020203" pitchFamily="34" charset="0"/>
                <a:cs typeface="Segoe UI" panose="020B0502040204020203" pitchFamily="34" charset="0"/>
              </a:rPr>
              <a:t>Replace ### by the Company Code</a:t>
            </a:r>
          </a:p>
        </p:txBody>
      </p:sp>
      <p:cxnSp>
        <p:nvCxnSpPr>
          <p:cNvPr id="153" name="Connector: Elbow 171">
            <a:extLst>
              <a:ext uri="{FF2B5EF4-FFF2-40B4-BE49-F238E27FC236}">
                <a16:creationId xmlns:a16="http://schemas.microsoft.com/office/drawing/2014/main" id="{6C16A2F7-407E-C2A1-B81A-A582E53C9E62}"/>
              </a:ext>
            </a:extLst>
          </p:cNvPr>
          <p:cNvCxnSpPr>
            <a:cxnSpLocks/>
            <a:stCxn id="98" idx="1"/>
            <a:endCxn id="26" idx="3"/>
          </p:cNvCxnSpPr>
          <p:nvPr/>
        </p:nvCxnSpPr>
        <p:spPr>
          <a:xfrm rot="10800000">
            <a:off x="5438775" y="468170"/>
            <a:ext cx="1422106" cy="35893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Connector: Elbow 171">
            <a:extLst>
              <a:ext uri="{FF2B5EF4-FFF2-40B4-BE49-F238E27FC236}">
                <a16:creationId xmlns:a16="http://schemas.microsoft.com/office/drawing/2014/main" id="{C3FAB89B-9A82-1788-BE5B-A3D2F6C56E16}"/>
              </a:ext>
            </a:extLst>
          </p:cNvPr>
          <p:cNvCxnSpPr>
            <a:cxnSpLocks/>
            <a:stCxn id="99" idx="1"/>
            <a:endCxn id="26" idx="3"/>
          </p:cNvCxnSpPr>
          <p:nvPr/>
        </p:nvCxnSpPr>
        <p:spPr>
          <a:xfrm rot="10800000">
            <a:off x="5438776" y="468170"/>
            <a:ext cx="1422105" cy="41728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Connector: Elbow 171">
            <a:extLst>
              <a:ext uri="{FF2B5EF4-FFF2-40B4-BE49-F238E27FC236}">
                <a16:creationId xmlns:a16="http://schemas.microsoft.com/office/drawing/2014/main" id="{83412302-635A-7E19-2CDE-A7FAD639CF0D}"/>
              </a:ext>
            </a:extLst>
          </p:cNvPr>
          <p:cNvCxnSpPr>
            <a:cxnSpLocks/>
            <a:stCxn id="126" idx="1"/>
            <a:endCxn id="26" idx="3"/>
          </p:cNvCxnSpPr>
          <p:nvPr/>
        </p:nvCxnSpPr>
        <p:spPr>
          <a:xfrm rot="10800000">
            <a:off x="5438775" y="468169"/>
            <a:ext cx="1422106" cy="476814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Connector: Elbow 171">
            <a:extLst>
              <a:ext uri="{FF2B5EF4-FFF2-40B4-BE49-F238E27FC236}">
                <a16:creationId xmlns:a16="http://schemas.microsoft.com/office/drawing/2014/main" id="{12E8D3FD-2521-99F0-2A27-22DCFAFA65EE}"/>
              </a:ext>
            </a:extLst>
          </p:cNvPr>
          <p:cNvCxnSpPr>
            <a:cxnSpLocks/>
            <a:stCxn id="127" idx="1"/>
            <a:endCxn id="26" idx="3"/>
          </p:cNvCxnSpPr>
          <p:nvPr/>
        </p:nvCxnSpPr>
        <p:spPr>
          <a:xfrm rot="10800000">
            <a:off x="5438776" y="468169"/>
            <a:ext cx="1422105" cy="53516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Connector: Elbow 171">
            <a:extLst>
              <a:ext uri="{FF2B5EF4-FFF2-40B4-BE49-F238E27FC236}">
                <a16:creationId xmlns:a16="http://schemas.microsoft.com/office/drawing/2014/main" id="{90D7230D-70B4-0956-A122-3BC7FAE40192}"/>
              </a:ext>
            </a:extLst>
          </p:cNvPr>
          <p:cNvCxnSpPr>
            <a:cxnSpLocks/>
            <a:stCxn id="26" idx="2"/>
            <a:endCxn id="28" idx="3"/>
          </p:cNvCxnSpPr>
          <p:nvPr/>
        </p:nvCxnSpPr>
        <p:spPr>
          <a:xfrm rot="5400000">
            <a:off x="4019780" y="544598"/>
            <a:ext cx="494839" cy="104775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3F34167-D8F8-EC99-CD25-6065B282BF6F}"/>
              </a:ext>
            </a:extLst>
          </p:cNvPr>
          <p:cNvSpPr/>
          <p:nvPr/>
        </p:nvSpPr>
        <p:spPr>
          <a:xfrm>
            <a:off x="136861" y="3183567"/>
            <a:ext cx="1301755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Semi-Finished Product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Crunchy 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Z###-S02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B5D60-FF59-AC4C-2A48-3518B308C956}"/>
              </a:ext>
            </a:extLst>
          </p:cNvPr>
          <p:cNvSpPr/>
          <p:nvPr/>
        </p:nvSpPr>
        <p:spPr>
          <a:xfrm>
            <a:off x="10251784" y="6053993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Vendor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HonigStadt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V03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1DB168-9306-9F1C-7FE2-DEEBFACDA959}"/>
              </a:ext>
            </a:extLst>
          </p:cNvPr>
          <p:cNvSpPr/>
          <p:nvPr/>
        </p:nvSpPr>
        <p:spPr>
          <a:xfrm>
            <a:off x="3023197" y="5073202"/>
            <a:ext cx="133982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Work Center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Mixeur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1FCED8-6910-107D-3093-D37D1FF23D60}"/>
              </a:ext>
            </a:extLst>
          </p:cNvPr>
          <p:cNvSpPr/>
          <p:nvPr/>
        </p:nvSpPr>
        <p:spPr>
          <a:xfrm>
            <a:off x="8556328" y="6154883"/>
            <a:ext cx="1295401" cy="508859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Info record / Source list</a:t>
            </a:r>
          </a:p>
        </p:txBody>
      </p:sp>
      <p:cxnSp>
        <p:nvCxnSpPr>
          <p:cNvPr id="31" name="Straight Arrow Connector 84">
            <a:extLst>
              <a:ext uri="{FF2B5EF4-FFF2-40B4-BE49-F238E27FC236}">
                <a16:creationId xmlns:a16="http://schemas.microsoft.com/office/drawing/2014/main" id="{F861694C-D56D-3854-171C-B28748EF3A6D}"/>
              </a:ext>
            </a:extLst>
          </p:cNvPr>
          <p:cNvCxnSpPr>
            <a:cxnSpLocks/>
            <a:stCxn id="3" idx="1"/>
            <a:endCxn id="30" idx="3"/>
          </p:cNvCxnSpPr>
          <p:nvPr/>
        </p:nvCxnSpPr>
        <p:spPr>
          <a:xfrm flipH="1">
            <a:off x="9851729" y="6406879"/>
            <a:ext cx="400055" cy="2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66332F7-54F1-EAEF-F5F2-FB71D34B897B}"/>
              </a:ext>
            </a:extLst>
          </p:cNvPr>
          <p:cNvSpPr/>
          <p:nvPr/>
        </p:nvSpPr>
        <p:spPr>
          <a:xfrm>
            <a:off x="6860880" y="6186190"/>
            <a:ext cx="1295401" cy="494667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Raw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Miel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Z###-R08</a:t>
            </a:r>
          </a:p>
        </p:txBody>
      </p:sp>
      <p:cxnSp>
        <p:nvCxnSpPr>
          <p:cNvPr id="49" name="Straight Arrow Connector 84">
            <a:extLst>
              <a:ext uri="{FF2B5EF4-FFF2-40B4-BE49-F238E27FC236}">
                <a16:creationId xmlns:a16="http://schemas.microsoft.com/office/drawing/2014/main" id="{9D5B57F8-06DA-4679-119F-601C654F9000}"/>
              </a:ext>
            </a:extLst>
          </p:cNvPr>
          <p:cNvCxnSpPr>
            <a:cxnSpLocks/>
          </p:cNvCxnSpPr>
          <p:nvPr/>
        </p:nvCxnSpPr>
        <p:spPr>
          <a:xfrm>
            <a:off x="8156280" y="6409312"/>
            <a:ext cx="400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DCB095E-6A72-DC5F-75E2-DD84F13111A5}"/>
              </a:ext>
            </a:extLst>
          </p:cNvPr>
          <p:cNvSpPr/>
          <p:nvPr/>
        </p:nvSpPr>
        <p:spPr>
          <a:xfrm>
            <a:off x="4591050" y="3183255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Bill of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cxnSp>
        <p:nvCxnSpPr>
          <p:cNvPr id="52" name="Connecteur : en angle 51">
            <a:extLst>
              <a:ext uri="{FF2B5EF4-FFF2-40B4-BE49-F238E27FC236}">
                <a16:creationId xmlns:a16="http://schemas.microsoft.com/office/drawing/2014/main" id="{D38E178A-CC79-A9CA-566C-AA8D6EDD35E9}"/>
              </a:ext>
            </a:extLst>
          </p:cNvPr>
          <p:cNvCxnSpPr>
            <a:cxnSpLocks/>
            <a:endCxn id="50" idx="3"/>
          </p:cNvCxnSpPr>
          <p:nvPr/>
        </p:nvCxnSpPr>
        <p:spPr>
          <a:xfrm rot="16200000" flipV="1">
            <a:off x="4523768" y="4898824"/>
            <a:ext cx="2897382" cy="17201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4C3D82B4-D6B9-ECED-9BD6-51632E45F919}"/>
              </a:ext>
            </a:extLst>
          </p:cNvPr>
          <p:cNvSpPr/>
          <p:nvPr/>
        </p:nvSpPr>
        <p:spPr>
          <a:xfrm>
            <a:off x="3023196" y="4136780"/>
            <a:ext cx="1339822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Routing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cxnSp>
        <p:nvCxnSpPr>
          <p:cNvPr id="81" name="Straight Arrow Connector 127">
            <a:extLst>
              <a:ext uri="{FF2B5EF4-FFF2-40B4-BE49-F238E27FC236}">
                <a16:creationId xmlns:a16="http://schemas.microsoft.com/office/drawing/2014/main" id="{2B5A4B3E-2D40-91F7-5929-4959DB718B5E}"/>
              </a:ext>
            </a:extLst>
          </p:cNvPr>
          <p:cNvCxnSpPr>
            <a:cxnSpLocks/>
            <a:stCxn id="182" idx="2"/>
            <a:endCxn id="78" idx="0"/>
          </p:cNvCxnSpPr>
          <p:nvPr/>
        </p:nvCxnSpPr>
        <p:spPr>
          <a:xfrm flipH="1">
            <a:off x="3693107" y="3889027"/>
            <a:ext cx="2" cy="247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127">
            <a:extLst>
              <a:ext uri="{FF2B5EF4-FFF2-40B4-BE49-F238E27FC236}">
                <a16:creationId xmlns:a16="http://schemas.microsoft.com/office/drawing/2014/main" id="{73C24C54-B76E-FB01-0F92-3A667A406D16}"/>
              </a:ext>
            </a:extLst>
          </p:cNvPr>
          <p:cNvCxnSpPr>
            <a:cxnSpLocks/>
            <a:stCxn id="182" idx="3"/>
            <a:endCxn id="50" idx="1"/>
          </p:cNvCxnSpPr>
          <p:nvPr/>
        </p:nvCxnSpPr>
        <p:spPr>
          <a:xfrm>
            <a:off x="4363019" y="3536141"/>
            <a:ext cx="228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4CFDBFF-EB37-8B4F-F52C-0169FB9A51C1}"/>
              </a:ext>
            </a:extLst>
          </p:cNvPr>
          <p:cNvSpPr/>
          <p:nvPr/>
        </p:nvSpPr>
        <p:spPr>
          <a:xfrm>
            <a:off x="214704" y="1978975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Finished Product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Muesli Original Crunchy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5A4717F-1A2D-B97C-3B45-E3077D4C2008}"/>
              </a:ext>
            </a:extLst>
          </p:cNvPr>
          <p:cNvCxnSpPr>
            <a:cxnSpLocks/>
          </p:cNvCxnSpPr>
          <p:nvPr/>
        </p:nvCxnSpPr>
        <p:spPr>
          <a:xfrm>
            <a:off x="6058467" y="5801849"/>
            <a:ext cx="9136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32B9D095-DC5B-BE64-71E9-14506EC78C64}"/>
              </a:ext>
            </a:extLst>
          </p:cNvPr>
          <p:cNvCxnSpPr>
            <a:cxnSpLocks/>
          </p:cNvCxnSpPr>
          <p:nvPr/>
        </p:nvCxnSpPr>
        <p:spPr>
          <a:xfrm>
            <a:off x="6020150" y="5230660"/>
            <a:ext cx="151699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A944A35-225F-0CE7-A525-4EA75FDA490E}"/>
              </a:ext>
            </a:extLst>
          </p:cNvPr>
          <p:cNvSpPr/>
          <p:nvPr/>
        </p:nvSpPr>
        <p:spPr>
          <a:xfrm>
            <a:off x="138656" y="5036621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Work Center</a:t>
            </a: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Four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</a:t>
            </a:r>
          </a:p>
        </p:txBody>
      </p: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8B06AB9E-1480-8633-C3D5-B955B2FA8F9F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6058467" y="6433524"/>
            <a:ext cx="80241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44520D-E855-0784-FF5F-3BB3528C8A72}"/>
              </a:ext>
            </a:extLst>
          </p:cNvPr>
          <p:cNvSpPr/>
          <p:nvPr/>
        </p:nvSpPr>
        <p:spPr>
          <a:xfrm>
            <a:off x="3023198" y="3183255"/>
            <a:ext cx="133982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Semi-Finished Product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Céréale </a:t>
            </a:r>
            <a:r>
              <a:rPr lang="en-CA" sz="1100" err="1">
                <a:latin typeface="Segoe UI" panose="020B0502040204020203" pitchFamily="34" charset="0"/>
                <a:cs typeface="Segoe UI" panose="020B0502040204020203" pitchFamily="34" charset="0"/>
              </a:rPr>
              <a:t>Mixée</a:t>
            </a:r>
            <a:endParaRPr lang="en-CA" sz="11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Z###-S01</a:t>
            </a:r>
          </a:p>
        </p:txBody>
      </p:sp>
      <p:cxnSp>
        <p:nvCxnSpPr>
          <p:cNvPr id="184" name="Straight Arrow Connector 127">
            <a:extLst>
              <a:ext uri="{FF2B5EF4-FFF2-40B4-BE49-F238E27FC236}">
                <a16:creationId xmlns:a16="http://schemas.microsoft.com/office/drawing/2014/main" id="{BD549E90-70E5-1B79-5321-08167966DC35}"/>
              </a:ext>
            </a:extLst>
          </p:cNvPr>
          <p:cNvCxnSpPr>
            <a:cxnSpLocks/>
            <a:stCxn id="9" idx="0"/>
            <a:endCxn id="78" idx="2"/>
          </p:cNvCxnSpPr>
          <p:nvPr/>
        </p:nvCxnSpPr>
        <p:spPr>
          <a:xfrm flipH="1" flipV="1">
            <a:off x="3693107" y="4842552"/>
            <a:ext cx="1" cy="230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1EA2AD8-1EC2-DE40-6AE0-C6BB34EF62F0}"/>
              </a:ext>
            </a:extLst>
          </p:cNvPr>
          <p:cNvSpPr/>
          <p:nvPr/>
        </p:nvSpPr>
        <p:spPr>
          <a:xfrm>
            <a:off x="1600194" y="3182117"/>
            <a:ext cx="1295401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Bill of Material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cxnSp>
        <p:nvCxnSpPr>
          <p:cNvPr id="239" name="Connecteur droit avec flèche 238">
            <a:extLst>
              <a:ext uri="{FF2B5EF4-FFF2-40B4-BE49-F238E27FC236}">
                <a16:creationId xmlns:a16="http://schemas.microsoft.com/office/drawing/2014/main" id="{EB2F96B2-784F-2D9C-DA00-FA94046F5DC8}"/>
              </a:ext>
            </a:extLst>
          </p:cNvPr>
          <p:cNvCxnSpPr>
            <a:cxnSpLocks/>
            <a:stCxn id="115" idx="0"/>
            <a:endCxn id="32" idx="2"/>
          </p:cNvCxnSpPr>
          <p:nvPr/>
        </p:nvCxnSpPr>
        <p:spPr>
          <a:xfrm flipV="1">
            <a:off x="862405" y="1717073"/>
            <a:ext cx="5799" cy="261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Connecteur : en angle 247">
            <a:extLst>
              <a:ext uri="{FF2B5EF4-FFF2-40B4-BE49-F238E27FC236}">
                <a16:creationId xmlns:a16="http://schemas.microsoft.com/office/drawing/2014/main" id="{A1BFCAC9-57BB-F005-0598-226E1E451624}"/>
              </a:ext>
            </a:extLst>
          </p:cNvPr>
          <p:cNvCxnSpPr>
            <a:cxnSpLocks/>
            <a:stCxn id="229" idx="2"/>
            <a:endCxn id="269" idx="3"/>
          </p:cNvCxnSpPr>
          <p:nvPr/>
        </p:nvCxnSpPr>
        <p:spPr>
          <a:xfrm rot="5400000">
            <a:off x="1545351" y="3776595"/>
            <a:ext cx="591250" cy="81383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Straight Arrow Connector 127">
            <a:extLst>
              <a:ext uri="{FF2B5EF4-FFF2-40B4-BE49-F238E27FC236}">
                <a16:creationId xmlns:a16="http://schemas.microsoft.com/office/drawing/2014/main" id="{3321023E-4822-7443-794A-0E025C2A5509}"/>
              </a:ext>
            </a:extLst>
          </p:cNvPr>
          <p:cNvCxnSpPr>
            <a:cxnSpLocks/>
          </p:cNvCxnSpPr>
          <p:nvPr/>
        </p:nvCxnSpPr>
        <p:spPr>
          <a:xfrm flipH="1" flipV="1">
            <a:off x="786356" y="4812948"/>
            <a:ext cx="1" cy="230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Straight Arrow Connector 127">
            <a:extLst>
              <a:ext uri="{FF2B5EF4-FFF2-40B4-BE49-F238E27FC236}">
                <a16:creationId xmlns:a16="http://schemas.microsoft.com/office/drawing/2014/main" id="{862A7D84-9110-E906-7418-97AC2F5747F6}"/>
              </a:ext>
            </a:extLst>
          </p:cNvPr>
          <p:cNvCxnSpPr>
            <a:cxnSpLocks/>
            <a:stCxn id="2" idx="2"/>
            <a:endCxn id="269" idx="0"/>
          </p:cNvCxnSpPr>
          <p:nvPr/>
        </p:nvCxnSpPr>
        <p:spPr>
          <a:xfrm>
            <a:off x="787739" y="3889339"/>
            <a:ext cx="0" cy="2369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9" name="Rectangle 268">
            <a:extLst>
              <a:ext uri="{FF2B5EF4-FFF2-40B4-BE49-F238E27FC236}">
                <a16:creationId xmlns:a16="http://schemas.microsoft.com/office/drawing/2014/main" id="{04F89134-5950-AD07-D3B9-64C07A885C1A}"/>
              </a:ext>
            </a:extLst>
          </p:cNvPr>
          <p:cNvSpPr/>
          <p:nvPr/>
        </p:nvSpPr>
        <p:spPr>
          <a:xfrm>
            <a:off x="141420" y="4126253"/>
            <a:ext cx="1292637" cy="705772"/>
          </a:xfrm>
          <a:prstGeom prst="rect">
            <a:avLst/>
          </a:prstGeom>
          <a:solidFill>
            <a:srgbClr val="FFE5E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100" b="1">
                <a:latin typeface="Segoe UI" panose="020B0502040204020203" pitchFamily="34" charset="0"/>
                <a:cs typeface="Segoe UI" panose="020B0502040204020203" pitchFamily="34" charset="0"/>
              </a:rPr>
              <a:t>Routing</a:t>
            </a:r>
            <a:b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CA" sz="1100">
                <a:latin typeface="Segoe UI" panose="020B0502040204020203" pitchFamily="34" charset="0"/>
                <a:cs typeface="Segoe UI" panose="020B0502040204020203" pitchFamily="34" charset="0"/>
              </a:rPr>
              <a:t>###-F$$</a:t>
            </a:r>
          </a:p>
        </p:txBody>
      </p:sp>
      <p:cxnSp>
        <p:nvCxnSpPr>
          <p:cNvPr id="271" name="Connecteur : en angle 270">
            <a:extLst>
              <a:ext uri="{FF2B5EF4-FFF2-40B4-BE49-F238E27FC236}">
                <a16:creationId xmlns:a16="http://schemas.microsoft.com/office/drawing/2014/main" id="{A3730739-7B33-4992-D7A3-A2B6D613EDCF}"/>
              </a:ext>
            </a:extLst>
          </p:cNvPr>
          <p:cNvCxnSpPr>
            <a:cxnSpLocks/>
            <a:stCxn id="50" idx="2"/>
            <a:endCxn id="78" idx="3"/>
          </p:cNvCxnSpPr>
          <p:nvPr/>
        </p:nvCxnSpPr>
        <p:spPr>
          <a:xfrm rot="5400000">
            <a:off x="4500566" y="3751480"/>
            <a:ext cx="600639" cy="8757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9" name="Connecteur : en angle 278">
            <a:extLst>
              <a:ext uri="{FF2B5EF4-FFF2-40B4-BE49-F238E27FC236}">
                <a16:creationId xmlns:a16="http://schemas.microsoft.com/office/drawing/2014/main" id="{260A3D6C-CD1F-5EEE-643A-C0195D7E8042}"/>
              </a:ext>
            </a:extLst>
          </p:cNvPr>
          <p:cNvCxnSpPr>
            <a:stCxn id="115" idx="3"/>
            <a:endCxn id="229" idx="0"/>
          </p:cNvCxnSpPr>
          <p:nvPr/>
        </p:nvCxnSpPr>
        <p:spPr>
          <a:xfrm>
            <a:off x="1510105" y="2331861"/>
            <a:ext cx="737790" cy="8502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3" name="Connecteur : en angle 282">
            <a:extLst>
              <a:ext uri="{FF2B5EF4-FFF2-40B4-BE49-F238E27FC236}">
                <a16:creationId xmlns:a16="http://schemas.microsoft.com/office/drawing/2014/main" id="{1A81E5BB-934F-6D3A-1E67-D6F5C76FABB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29811" y="12082"/>
            <a:ext cx="2386772" cy="4004717"/>
          </a:xfrm>
          <a:prstGeom prst="bentConnector3">
            <a:avLst>
              <a:gd name="adj1" fmla="val 143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0" name="Straight Arrow Connector 127">
            <a:extLst>
              <a:ext uri="{FF2B5EF4-FFF2-40B4-BE49-F238E27FC236}">
                <a16:creationId xmlns:a16="http://schemas.microsoft.com/office/drawing/2014/main" id="{2CEA41CF-7925-BDF5-FC9C-B0BE91994892}"/>
              </a:ext>
            </a:extLst>
          </p:cNvPr>
          <p:cNvCxnSpPr>
            <a:cxnSpLocks/>
            <a:stCxn id="182" idx="1"/>
            <a:endCxn id="229" idx="3"/>
          </p:cNvCxnSpPr>
          <p:nvPr/>
        </p:nvCxnSpPr>
        <p:spPr>
          <a:xfrm flipH="1" flipV="1">
            <a:off x="2895595" y="3535003"/>
            <a:ext cx="127603" cy="11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3" name="Straight Arrow Connector 127">
            <a:extLst>
              <a:ext uri="{FF2B5EF4-FFF2-40B4-BE49-F238E27FC236}">
                <a16:creationId xmlns:a16="http://schemas.microsoft.com/office/drawing/2014/main" id="{7ADA7AFB-8D26-DC95-D2A8-27F7196F0968}"/>
              </a:ext>
            </a:extLst>
          </p:cNvPr>
          <p:cNvCxnSpPr>
            <a:cxnSpLocks/>
            <a:stCxn id="229" idx="1"/>
            <a:endCxn id="2" idx="3"/>
          </p:cNvCxnSpPr>
          <p:nvPr/>
        </p:nvCxnSpPr>
        <p:spPr>
          <a:xfrm flipH="1">
            <a:off x="1438616" y="3535003"/>
            <a:ext cx="161578" cy="1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2" name="Connector: Elbow 171">
            <a:extLst>
              <a:ext uri="{FF2B5EF4-FFF2-40B4-BE49-F238E27FC236}">
                <a16:creationId xmlns:a16="http://schemas.microsoft.com/office/drawing/2014/main" id="{B2644B8D-045F-FEF8-8CD0-593E7834F0B1}"/>
              </a:ext>
            </a:extLst>
          </p:cNvPr>
          <p:cNvCxnSpPr>
            <a:cxnSpLocks/>
            <a:stCxn id="115" idx="1"/>
            <a:endCxn id="269" idx="1"/>
          </p:cNvCxnSpPr>
          <p:nvPr/>
        </p:nvCxnSpPr>
        <p:spPr>
          <a:xfrm rot="10800000" flipV="1">
            <a:off x="141420" y="2331861"/>
            <a:ext cx="73284" cy="2147278"/>
          </a:xfrm>
          <a:prstGeom prst="bentConnector3">
            <a:avLst>
              <a:gd name="adj1" fmla="val 27457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EEBFA8E2-0E72-27A2-3F70-7E77A9ECF9B7}"/>
              </a:ext>
            </a:extLst>
          </p:cNvPr>
          <p:cNvSpPr txBox="1"/>
          <p:nvPr/>
        </p:nvSpPr>
        <p:spPr>
          <a:xfrm>
            <a:off x="1148226" y="5966066"/>
            <a:ext cx="4182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Voici le </a:t>
            </a:r>
            <a:r>
              <a:rPr lang="en-CA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modèle complet </a:t>
            </a:r>
            <a:r>
              <a:rPr lang="en-CA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 Muesli AG</a:t>
            </a:r>
          </a:p>
        </p:txBody>
      </p:sp>
    </p:spTree>
    <p:extLst>
      <p:ext uri="{BB962C8B-B14F-4D97-AF65-F5344CB8AC3E}">
        <p14:creationId xmlns:p14="http://schemas.microsoft.com/office/powerpoint/2010/main" val="264577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87B08B-9265-3714-DF6E-1731C335550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Grille d’évaluation</a:t>
            </a:r>
            <a:endParaRPr lang="en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9488F4-ED82-D2A7-9420-1468F6065613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CA" dirty="0"/>
              <a:t>Éléments Organisationnels (1) – .35 par éléments, -.1 si erreur</a:t>
            </a:r>
          </a:p>
          <a:p>
            <a:pPr lvl="1"/>
            <a:r>
              <a:rPr lang="fr-CA" dirty="0"/>
              <a:t>Chart of </a:t>
            </a:r>
            <a:r>
              <a:rPr lang="fr-CA" dirty="0" err="1"/>
              <a:t>Account</a:t>
            </a:r>
            <a:r>
              <a:rPr lang="fr-CA" dirty="0"/>
              <a:t> : X</a:t>
            </a:r>
          </a:p>
          <a:p>
            <a:pPr lvl="1"/>
            <a:r>
              <a:rPr lang="fr-CA" dirty="0" err="1"/>
              <a:t>Purchasing</a:t>
            </a:r>
            <a:r>
              <a:rPr lang="fr-CA" dirty="0"/>
              <a:t> Group :X</a:t>
            </a:r>
          </a:p>
          <a:p>
            <a:pPr lvl="1"/>
            <a:r>
              <a:rPr lang="fr-CA" dirty="0"/>
              <a:t>Storage Location : X</a:t>
            </a:r>
          </a:p>
          <a:p>
            <a:pPr lvl="1"/>
            <a:r>
              <a:rPr lang="fr-CA" dirty="0" err="1"/>
              <a:t>Errors</a:t>
            </a:r>
            <a:r>
              <a:rPr lang="fr-CA" dirty="0"/>
              <a:t> : 1 (Pas besoin de toucher au </a:t>
            </a:r>
            <a:r>
              <a:rPr lang="fr-CA" dirty="0" err="1"/>
              <a:t>Purchasing</a:t>
            </a:r>
            <a:r>
              <a:rPr lang="fr-CA" dirty="0"/>
              <a:t> </a:t>
            </a:r>
            <a:r>
              <a:rPr lang="fr-CA" dirty="0" err="1"/>
              <a:t>Org</a:t>
            </a:r>
            <a:r>
              <a:rPr lang="fr-CA" dirty="0"/>
              <a:t>. </a:t>
            </a:r>
            <a:r>
              <a:rPr lang="fr-CA" dirty="0">
                <a:sym typeface="Wingdings" panose="05000000000000000000" pitchFamily="2" charset="2"/>
              </a:rPr>
              <a:t> )</a:t>
            </a:r>
            <a:endParaRPr lang="fr-CA" dirty="0"/>
          </a:p>
          <a:p>
            <a:pPr lvl="1"/>
            <a:r>
              <a:rPr lang="fr-CA" u="sng" dirty="0"/>
              <a:t>Sous-Total : .9</a:t>
            </a:r>
          </a:p>
          <a:p>
            <a:r>
              <a:rPr lang="fr-CA" dirty="0"/>
              <a:t>Données Maîtres (4) – -.1 si erreur</a:t>
            </a:r>
          </a:p>
          <a:p>
            <a:pPr lvl="1"/>
            <a:r>
              <a:rPr lang="en-CA" dirty="0"/>
              <a:t>Raw + </a:t>
            </a:r>
            <a:r>
              <a:rPr lang="en-CA" dirty="0" err="1"/>
              <a:t>Inforecord</a:t>
            </a:r>
            <a:r>
              <a:rPr lang="en-CA" dirty="0"/>
              <a:t>/source list + vendor (1) : </a:t>
            </a:r>
            <a:r>
              <a:rPr lang="fr-CA" dirty="0"/>
              <a:t>1</a:t>
            </a:r>
          </a:p>
          <a:p>
            <a:pPr lvl="1"/>
            <a:r>
              <a:rPr lang="fr-CA" dirty="0" err="1"/>
              <a:t>Semifinished</a:t>
            </a:r>
            <a:r>
              <a:rPr lang="fr-CA" dirty="0"/>
              <a:t> </a:t>
            </a:r>
            <a:r>
              <a:rPr lang="fr-CA" dirty="0" err="1"/>
              <a:t>products</a:t>
            </a:r>
            <a:r>
              <a:rPr lang="fr-CA" dirty="0"/>
              <a:t> + </a:t>
            </a:r>
            <a:r>
              <a:rPr lang="fr-CA" dirty="0" err="1"/>
              <a:t>BoM</a:t>
            </a:r>
            <a:r>
              <a:rPr lang="fr-CA" dirty="0"/>
              <a:t> + </a:t>
            </a:r>
            <a:r>
              <a:rPr lang="fr-CA" dirty="0" err="1"/>
              <a:t>Routing</a:t>
            </a:r>
            <a:r>
              <a:rPr lang="fr-CA" dirty="0"/>
              <a:t> (1) : 1</a:t>
            </a:r>
          </a:p>
          <a:p>
            <a:pPr lvl="1"/>
            <a:r>
              <a:rPr lang="fr-CA" dirty="0" err="1"/>
              <a:t>Workcenter</a:t>
            </a:r>
            <a:r>
              <a:rPr lang="fr-CA" dirty="0"/>
              <a:t> (.5) : ,5 </a:t>
            </a:r>
          </a:p>
          <a:p>
            <a:pPr lvl="1"/>
            <a:r>
              <a:rPr lang="en-CA" dirty="0"/>
              <a:t>Finished products + BoM + Routing + price list (1) : .4 (il faut </a:t>
            </a:r>
            <a:r>
              <a:rPr lang="en-CA" dirty="0" err="1"/>
              <a:t>créer</a:t>
            </a:r>
            <a:r>
              <a:rPr lang="en-CA" dirty="0"/>
              <a:t> le nouveau </a:t>
            </a:r>
            <a:r>
              <a:rPr lang="en-CA" dirty="0" err="1"/>
              <a:t>produit</a:t>
            </a:r>
            <a:r>
              <a:rPr lang="en-CA" dirty="0"/>
              <a:t> </a:t>
            </a:r>
            <a:r>
              <a:rPr lang="en-CA" dirty="0" err="1"/>
              <a:t>fini</a:t>
            </a:r>
            <a:r>
              <a:rPr lang="en-CA" dirty="0"/>
              <a:t> </a:t>
            </a:r>
            <a:r>
              <a:rPr lang="en-CA" dirty="0" err="1"/>
              <a:t>aussi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deux versions 1kg et 500g, </a:t>
            </a:r>
            <a:r>
              <a:rPr lang="en-CA" dirty="0" err="1"/>
              <a:t>ainsi</a:t>
            </a:r>
            <a:r>
              <a:rPr lang="en-CA" dirty="0"/>
              <a:t> que les BOM et routing </a:t>
            </a:r>
            <a:r>
              <a:rPr lang="en-CA" dirty="0" err="1"/>
              <a:t>dédiés</a:t>
            </a:r>
            <a:r>
              <a:rPr lang="en-CA" dirty="0"/>
              <a:t>. Je ne suis pas </a:t>
            </a:r>
            <a:r>
              <a:rPr lang="en-CA" dirty="0" err="1"/>
              <a:t>sûr</a:t>
            </a:r>
            <a:r>
              <a:rPr lang="en-CA" dirty="0"/>
              <a:t> de </a:t>
            </a:r>
            <a:r>
              <a:rPr lang="en-CA" dirty="0" err="1"/>
              <a:t>comprendre</a:t>
            </a:r>
            <a:r>
              <a:rPr lang="en-CA" dirty="0"/>
              <a:t>, car </a:t>
            </a:r>
            <a:r>
              <a:rPr lang="en-CA" dirty="0" err="1"/>
              <a:t>vous</a:t>
            </a:r>
            <a:r>
              <a:rPr lang="en-CA" dirty="0"/>
              <a:t> </a:t>
            </a:r>
            <a:r>
              <a:rPr lang="en-CA" dirty="0" err="1"/>
              <a:t>avez</a:t>
            </a:r>
            <a:r>
              <a:rPr lang="en-CA" dirty="0"/>
              <a:t> le </a:t>
            </a:r>
            <a:r>
              <a:rPr lang="en-CA" dirty="0" err="1"/>
              <a:t>produit</a:t>
            </a:r>
            <a:r>
              <a:rPr lang="en-CA" dirty="0"/>
              <a:t> </a:t>
            </a:r>
            <a:r>
              <a:rPr lang="en-CA" dirty="0" err="1"/>
              <a:t>fini</a:t>
            </a:r>
            <a:r>
              <a:rPr lang="en-CA" dirty="0"/>
              <a:t> dans </a:t>
            </a:r>
            <a:r>
              <a:rPr lang="en-CA" dirty="0" err="1"/>
              <a:t>l’annexe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Direction des flèches (.5) : .5</a:t>
            </a:r>
          </a:p>
          <a:p>
            <a:r>
              <a:rPr lang="en-CA" u="sng" dirty="0"/>
              <a:t>Total : 4,3</a:t>
            </a:r>
          </a:p>
        </p:txBody>
      </p:sp>
    </p:spTree>
    <p:extLst>
      <p:ext uri="{BB962C8B-B14F-4D97-AF65-F5344CB8AC3E}">
        <p14:creationId xmlns:p14="http://schemas.microsoft.com/office/powerpoint/2010/main" val="30031766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58EA05223AB745845E6956A2CCC081" ma:contentTypeVersion="14" ma:contentTypeDescription="Create a new document." ma:contentTypeScope="" ma:versionID="ff84da45791d54a3481903204dc5ff1c">
  <xsd:schema xmlns:xsd="http://www.w3.org/2001/XMLSchema" xmlns:xs="http://www.w3.org/2001/XMLSchema" xmlns:p="http://schemas.microsoft.com/office/2006/metadata/properties" xmlns:ns3="8996d1c1-2c77-4c0e-9bfe-136983d1471c" xmlns:ns4="b075491f-be89-4873-a2d8-a14db0caebe0" targetNamespace="http://schemas.microsoft.com/office/2006/metadata/properties" ma:root="true" ma:fieldsID="ae3b48a6023c3e63e3a26cc195fb930f" ns3:_="" ns4:_="">
    <xsd:import namespace="8996d1c1-2c77-4c0e-9bfe-136983d1471c"/>
    <xsd:import namespace="b075491f-be89-4873-a2d8-a14db0caebe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96d1c1-2c77-4c0e-9bfe-136983d1471c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75491f-be89-4873-a2d8-a14db0caebe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996d1c1-2c77-4c0e-9bfe-136983d1471c" xsi:nil="true"/>
  </documentManagement>
</p:properties>
</file>

<file path=customXml/itemProps1.xml><?xml version="1.0" encoding="utf-8"?>
<ds:datastoreItem xmlns:ds="http://schemas.openxmlformats.org/officeDocument/2006/customXml" ds:itemID="{7D617F41-88A3-4A22-9A7B-F937EC0726B8}">
  <ds:schemaRefs>
    <ds:schemaRef ds:uri="8996d1c1-2c77-4c0e-9bfe-136983d1471c"/>
    <ds:schemaRef ds:uri="b075491f-be89-4873-a2d8-a14db0caeb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5486115-01BD-42F3-8B78-469BF6ECB9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75B12F-D467-4FE5-8C5A-BEC3E2ECABE0}">
  <ds:schemaRefs>
    <ds:schemaRef ds:uri="b075491f-be89-4873-a2d8-a14db0caebe0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8996d1c1-2c77-4c0e-9bfe-136983d1471c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Grand écran</PresentationFormat>
  <Paragraphs>165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Segoe UI</vt:lpstr>
      <vt:lpstr>Times New Roman</vt:lpstr>
      <vt:lpstr>Wingdings</vt:lpstr>
      <vt:lpstr>Thème Office</vt:lpstr>
      <vt:lpstr>Travail pratique (collectif)</vt:lpstr>
      <vt:lpstr>Présentation PowerPoint</vt:lpstr>
      <vt:lpstr>Présentation PowerPoint</vt:lpstr>
      <vt:lpstr>Annexe</vt:lpstr>
      <vt:lpstr>Présentation PowerPoint</vt:lpstr>
      <vt:lpstr>Grille d’évaluation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Clara Dragon</dc:creator>
  <cp:lastModifiedBy>Estha Wamonakeba Tshiya</cp:lastModifiedBy>
  <cp:revision>2</cp:revision>
  <dcterms:created xsi:type="dcterms:W3CDTF">2025-11-16T19:14:43Z</dcterms:created>
  <dcterms:modified xsi:type="dcterms:W3CDTF">2025-12-22T01:58:34Z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0x010100F758EA05223AB745845E6956A2CCC081</vt:lpwstr>
  </property>
</Properties>
</file>